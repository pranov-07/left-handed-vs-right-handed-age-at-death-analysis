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E94B6B-3BD5-4D14-B592-6F1011C15CCC}" v="614" dt="2025-01-26T16:15:57.428"/>
    <p1510:client id="{4638A6D8-77D7-447C-9BA1-7F3CC7939299}" v="233" dt="2025-01-26T13:50:39.339"/>
    <p1510:client id="{86AA4739-CBD0-B0AD-90BE-14F2FEFECFA5}" v="160" dt="2025-01-26T12:47:41.612"/>
    <p1510:client id="{BA19386E-F6FA-4541-A16C-7BA67CE4C805}" v="426" dt="2025-01-26T14:55:39.5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1/26/2025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06996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1/26/2025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56556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1/26/2025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28603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1/26/2025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39398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1/26/2025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74982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1/26/2025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82330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1/26/2025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6578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1/26/2025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95613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1/26/2025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93636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1/26/2025</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69314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1/26/2025</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967352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1/26/2025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2162675"/>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2" r:id="rId6"/>
    <p:sldLayoutId id="2147483698" r:id="rId7"/>
    <p:sldLayoutId id="2147483699" r:id="rId8"/>
    <p:sldLayoutId id="2147483700" r:id="rId9"/>
    <p:sldLayoutId id="2147483701" r:id="rId10"/>
    <p:sldLayoutId id="2147483703" r:id="rId11"/>
  </p:sldLayoutIdLst>
  <p:hf sldNum="0" hdr="0" ftr="0" dt="0"/>
  <p:txStyles>
    <p:titleStyle>
      <a:lvl1pPr algn="l" defTabSz="914400" rtl="0" eaLnBrk="1" latinLnBrk="0" hangingPunct="1">
        <a:lnSpc>
          <a:spcPct val="90000"/>
        </a:lnSpc>
        <a:spcBef>
          <a:spcPct val="0"/>
        </a:spcBef>
        <a:buNone/>
        <a:defRPr sz="47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1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1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1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1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6E698C-8155-4B8B-BDC9-B7299772B5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220928" y="965200"/>
            <a:ext cx="5999002" cy="4927600"/>
          </a:xfrm>
        </p:spPr>
        <p:txBody>
          <a:bodyPr anchor="ctr">
            <a:normAutofit/>
          </a:bodyPr>
          <a:lstStyle/>
          <a:p>
            <a:endParaRPr lang="en-US" sz="6000">
              <a:solidFill>
                <a:schemeClr val="tx2"/>
              </a:solidFill>
            </a:endParaRPr>
          </a:p>
        </p:txBody>
      </p:sp>
      <p:sp>
        <p:nvSpPr>
          <p:cNvPr id="10" name="Rectangle 9">
            <a:extLst>
              <a:ext uri="{FF2B5EF4-FFF2-40B4-BE49-F238E27FC236}">
                <a16:creationId xmlns:a16="http://schemas.microsoft.com/office/drawing/2014/main" id="{0EEF5601-A8BC-411D-AA64-3E79320BA1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584734"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p:cNvSpPr>
            <a:spLocks noGrp="1"/>
          </p:cNvSpPr>
          <p:nvPr>
            <p:ph type="subTitle" idx="1"/>
          </p:nvPr>
        </p:nvSpPr>
        <p:spPr>
          <a:xfrm>
            <a:off x="484689" y="1455898"/>
            <a:ext cx="3778312" cy="4791833"/>
          </a:xfrm>
        </p:spPr>
        <p:txBody>
          <a:bodyPr anchor="ctr">
            <a:normAutofit/>
          </a:bodyPr>
          <a:lstStyle/>
          <a:p>
            <a:r>
              <a:rPr lang="en-US" sz="2800" b="1" dirty="0">
                <a:solidFill>
                  <a:srgbClr val="C00000"/>
                </a:solidFill>
              </a:rPr>
              <a:t>ANALYZE DEATH AGE DIFFERENCE OF RIGHT HANDERS ALONG WITH LEFT HANDERS</a:t>
            </a:r>
          </a:p>
          <a:p>
            <a:endParaRPr lang="en-US" b="1" dirty="0">
              <a:solidFill>
                <a:srgbClr val="C00000"/>
              </a:solidFill>
            </a:endParaRPr>
          </a:p>
          <a:p>
            <a:endParaRPr lang="en-US" dirty="0">
              <a:solidFill>
                <a:srgbClr val="FFFFFF"/>
              </a:solidFill>
            </a:endParaRPr>
          </a:p>
        </p:txBody>
      </p:sp>
      <p:pic>
        <p:nvPicPr>
          <p:cNvPr id="4" name="Picture 3" descr="A blue medical presentation template&#10;&#10;AI-generated content may be incorrect.">
            <a:extLst>
              <a:ext uri="{FF2B5EF4-FFF2-40B4-BE49-F238E27FC236}">
                <a16:creationId xmlns:a16="http://schemas.microsoft.com/office/drawing/2014/main" id="{0B9976E0-39AA-835D-1CEC-35C8CDC096AE}"/>
              </a:ext>
            </a:extLst>
          </p:cNvPr>
          <p:cNvPicPr>
            <a:picLocks noChangeAspect="1"/>
          </p:cNvPicPr>
          <p:nvPr/>
        </p:nvPicPr>
        <p:blipFill>
          <a:blip r:embed="rId2"/>
          <a:stretch>
            <a:fillRect/>
          </a:stretch>
        </p:blipFill>
        <p:spPr>
          <a:xfrm>
            <a:off x="4586378" y="2398"/>
            <a:ext cx="7605622" cy="6853205"/>
          </a:xfrm>
          <a:prstGeom prst="rect">
            <a:avLst/>
          </a:prstGeom>
        </p:spPr>
      </p:pic>
    </p:spTree>
    <p:extLst>
      <p:ext uri="{BB962C8B-B14F-4D97-AF65-F5344CB8AC3E}">
        <p14:creationId xmlns:p14="http://schemas.microsoft.com/office/powerpoint/2010/main" val="109857222"/>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6AFA4-1C1C-23F4-1386-A99DAD118D74}"/>
              </a:ext>
            </a:extLst>
          </p:cNvPr>
          <p:cNvSpPr>
            <a:spLocks noGrp="1"/>
          </p:cNvSpPr>
          <p:nvPr>
            <p:ph type="title"/>
          </p:nvPr>
        </p:nvSpPr>
        <p:spPr>
          <a:xfrm>
            <a:off x="1097280" y="286603"/>
            <a:ext cx="10058400" cy="1062569"/>
          </a:xfrm>
        </p:spPr>
        <p:txBody>
          <a:bodyPr/>
          <a:lstStyle/>
          <a:p>
            <a:pPr algn="ctr">
              <a:spcBef>
                <a:spcPts val="0"/>
              </a:spcBef>
            </a:pPr>
            <a:r>
              <a:rPr lang="en-US" b="1" dirty="0"/>
              <a:t>PROBLEM STATEMENT</a:t>
            </a:r>
            <a:endParaRPr lang="en-US" dirty="0"/>
          </a:p>
        </p:txBody>
      </p:sp>
      <p:sp>
        <p:nvSpPr>
          <p:cNvPr id="3" name="Content Placeholder 2">
            <a:extLst>
              <a:ext uri="{FF2B5EF4-FFF2-40B4-BE49-F238E27FC236}">
                <a16:creationId xmlns:a16="http://schemas.microsoft.com/office/drawing/2014/main" id="{7DAA8465-63A7-BA0E-7452-91449ADAFA99}"/>
              </a:ext>
            </a:extLst>
          </p:cNvPr>
          <p:cNvSpPr>
            <a:spLocks noGrp="1"/>
          </p:cNvSpPr>
          <p:nvPr>
            <p:ph idx="1"/>
          </p:nvPr>
        </p:nvSpPr>
        <p:spPr>
          <a:xfrm>
            <a:off x="1097280" y="1892541"/>
            <a:ext cx="10058400" cy="3976551"/>
          </a:xfrm>
        </p:spPr>
        <p:txBody>
          <a:bodyPr vert="horz" lIns="0" tIns="45720" rIns="0" bIns="45720" rtlCol="0" anchor="t">
            <a:normAutofit/>
          </a:bodyPr>
          <a:lstStyle/>
          <a:p>
            <a:pPr>
              <a:buFont typeface="Arial" panose="020F0502020204030204" pitchFamily="34" charset="0"/>
              <a:buChar char="•"/>
            </a:pPr>
            <a:r>
              <a:rPr lang="en-US" sz="2400" dirty="0">
                <a:ea typeface="+mn-lt"/>
                <a:cs typeface="+mn-lt"/>
              </a:rPr>
              <a:t>In this project, you will explore this phenomenon using age distribution data to see if we can reproduce a difference in average age at death purely from the changing rates of left-handedness over time, refuting the claim of early death for left-handers. </a:t>
            </a:r>
            <a:endParaRPr lang="en-US"/>
          </a:p>
          <a:p>
            <a:pPr>
              <a:buFont typeface="Arial" panose="020F0502020204030204" pitchFamily="34" charset="0"/>
              <a:buChar char="•"/>
            </a:pPr>
            <a:r>
              <a:rPr lang="en-US" sz="2400" dirty="0">
                <a:ea typeface="+mn-lt"/>
                <a:cs typeface="+mn-lt"/>
              </a:rPr>
              <a:t>This notebook uses pandas and Bayesian statistics to analyze the probability of being a certain age at death given that you are reported as left-handed or right-handed Project Dataset.</a:t>
            </a:r>
            <a:endParaRPr lang="en-US" sz="2400" dirty="0"/>
          </a:p>
        </p:txBody>
      </p:sp>
    </p:spTree>
    <p:extLst>
      <p:ext uri="{BB962C8B-B14F-4D97-AF65-F5344CB8AC3E}">
        <p14:creationId xmlns:p14="http://schemas.microsoft.com/office/powerpoint/2010/main" val="2913665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23AAA-CDCE-0DC4-0FEE-3D315FB1BA3C}"/>
              </a:ext>
            </a:extLst>
          </p:cNvPr>
          <p:cNvSpPr>
            <a:spLocks noGrp="1"/>
          </p:cNvSpPr>
          <p:nvPr>
            <p:ph type="title"/>
          </p:nvPr>
        </p:nvSpPr>
        <p:spPr>
          <a:xfrm>
            <a:off x="476392" y="286603"/>
            <a:ext cx="11286065" cy="1013313"/>
          </a:xfrm>
        </p:spPr>
        <p:txBody>
          <a:bodyPr>
            <a:normAutofit/>
          </a:bodyPr>
          <a:lstStyle/>
          <a:p>
            <a:pPr algn="ctr">
              <a:spcBef>
                <a:spcPts val="0"/>
              </a:spcBef>
            </a:pPr>
            <a:r>
              <a:rPr lang="en-US" sz="4800" b="1" dirty="0">
                <a:solidFill>
                  <a:srgbClr val="92D050"/>
                </a:solidFill>
              </a:rPr>
              <a:t>ABSTRACT</a:t>
            </a:r>
            <a:endParaRPr lang="en-US" sz="4800"/>
          </a:p>
        </p:txBody>
      </p:sp>
      <p:sp>
        <p:nvSpPr>
          <p:cNvPr id="3" name="Content Placeholder 2">
            <a:extLst>
              <a:ext uri="{FF2B5EF4-FFF2-40B4-BE49-F238E27FC236}">
                <a16:creationId xmlns:a16="http://schemas.microsoft.com/office/drawing/2014/main" id="{09646B4D-B9ED-09BC-32A4-FF1A0D1FA080}"/>
              </a:ext>
            </a:extLst>
          </p:cNvPr>
          <p:cNvSpPr>
            <a:spLocks noGrp="1"/>
          </p:cNvSpPr>
          <p:nvPr>
            <p:ph idx="1"/>
          </p:nvPr>
        </p:nvSpPr>
        <p:spPr>
          <a:xfrm>
            <a:off x="1097280" y="1896535"/>
            <a:ext cx="10058400" cy="3972557"/>
          </a:xfrm>
        </p:spPr>
        <p:txBody>
          <a:bodyPr vert="horz" lIns="0" tIns="45720" rIns="0" bIns="45720" rtlCol="0" anchor="t">
            <a:noAutofit/>
          </a:bodyPr>
          <a:lstStyle/>
          <a:p>
            <a:pPr>
              <a:buFont typeface="Wingdings" panose="020F0502020204030204" pitchFamily="34" charset="0"/>
              <a:buChar char="Ø"/>
            </a:pPr>
            <a:r>
              <a:rPr lang="en-US" b="1" dirty="0">
                <a:solidFill>
                  <a:schemeClr val="bg1"/>
                </a:solidFill>
                <a:ea typeface="+mn-lt"/>
                <a:cs typeface="+mn-lt"/>
              </a:rPr>
              <a:t>This project examines the long-standing claim that left-handed individuals tend to have a lower average age at death compared to their right-handed counterparts. By analyzing age distribution data, it seeks to determine whether this observed difference is genuinely due to biological or environmental disadvantages associated with left-handedness or if it arises as a statistical artifact caused by historical changes in the rates of left-handedness over time.</a:t>
            </a:r>
            <a:endParaRPr lang="en-US"/>
          </a:p>
          <a:p>
            <a:pPr>
              <a:buFont typeface="Wingdings" panose="020F0502020204030204" pitchFamily="34" charset="0"/>
              <a:buChar char="Ø"/>
            </a:pPr>
            <a:r>
              <a:rPr lang="en-US" b="1" dirty="0">
                <a:solidFill>
                  <a:schemeClr val="bg1"/>
                </a:solidFill>
                <a:ea typeface="+mn-lt"/>
                <a:cs typeface="+mn-lt"/>
              </a:rPr>
              <a:t> The study utilizes pandas for data processing and analysis, alongside Bayesian statistics to calculate conditional probabilities of age at death based on handedness. Through this approach, the project aims to provide evidence-based insights and potentially refute the misconception that left-handed individuals are at a disadvantage regarding lifespan.</a:t>
            </a:r>
            <a:endParaRPr lang="en-US" b="1">
              <a:solidFill>
                <a:schemeClr val="bg1"/>
              </a:solidFill>
            </a:endParaRPr>
          </a:p>
          <a:p>
            <a:pPr>
              <a:buFont typeface="Wingdings" panose="020F0502020204030204" pitchFamily="34" charset="0"/>
              <a:buChar char="Ø"/>
            </a:pPr>
            <a:endParaRPr lang="en-US" dirty="0">
              <a:solidFill>
                <a:schemeClr val="bg1"/>
              </a:solidFill>
            </a:endParaRPr>
          </a:p>
          <a:p>
            <a:pPr>
              <a:buFont typeface="Wingdings" panose="020F0502020204030204" pitchFamily="34" charset="0"/>
              <a:buChar char="Ø"/>
            </a:pPr>
            <a:endParaRPr lang="en-US" dirty="0">
              <a:solidFill>
                <a:schemeClr val="bg1"/>
              </a:solidFill>
            </a:endParaRPr>
          </a:p>
        </p:txBody>
      </p:sp>
    </p:spTree>
    <p:extLst>
      <p:ext uri="{BB962C8B-B14F-4D97-AF65-F5344CB8AC3E}">
        <p14:creationId xmlns:p14="http://schemas.microsoft.com/office/powerpoint/2010/main" val="3488632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t="-2000" b="-2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F5E5F-2C4D-CF39-1ECD-0CAE029F7319}"/>
              </a:ext>
            </a:extLst>
          </p:cNvPr>
          <p:cNvSpPr>
            <a:spLocks noGrp="1"/>
          </p:cNvSpPr>
          <p:nvPr>
            <p:ph type="title"/>
          </p:nvPr>
        </p:nvSpPr>
        <p:spPr>
          <a:xfrm>
            <a:off x="4777882" y="-389132"/>
            <a:ext cx="3531081" cy="1091324"/>
          </a:xfrm>
        </p:spPr>
        <p:txBody>
          <a:bodyPr/>
          <a:lstStyle/>
          <a:p>
            <a:r>
              <a:rPr lang="en-US" b="1" u="sng" dirty="0">
                <a:solidFill>
                  <a:schemeClr val="bg1"/>
                </a:solidFill>
              </a:rPr>
              <a:t>TASK -1</a:t>
            </a:r>
          </a:p>
        </p:txBody>
      </p:sp>
      <p:pic>
        <p:nvPicPr>
          <p:cNvPr id="4" name="Content Placeholder 3" descr="A close up of text&#10;&#10;AI-generated content may be incorrect.">
            <a:extLst>
              <a:ext uri="{FF2B5EF4-FFF2-40B4-BE49-F238E27FC236}">
                <a16:creationId xmlns:a16="http://schemas.microsoft.com/office/drawing/2014/main" id="{D0D8D83A-4320-38AD-07AE-2F1090C5F3B2}"/>
              </a:ext>
            </a:extLst>
          </p:cNvPr>
          <p:cNvPicPr>
            <a:picLocks noGrp="1" noChangeAspect="1"/>
          </p:cNvPicPr>
          <p:nvPr>
            <p:ph idx="1"/>
          </p:nvPr>
        </p:nvPicPr>
        <p:blipFill>
          <a:blip r:embed="rId3"/>
          <a:stretch>
            <a:fillRect/>
          </a:stretch>
        </p:blipFill>
        <p:spPr>
          <a:xfrm>
            <a:off x="6130" y="1982285"/>
            <a:ext cx="5814022" cy="1453550"/>
          </a:xfrm>
        </p:spPr>
      </p:pic>
      <p:pic>
        <p:nvPicPr>
          <p:cNvPr id="5" name="Picture 4" descr="A screenshot of a computer code&#10;&#10;AI-generated content may be incorrect.">
            <a:extLst>
              <a:ext uri="{FF2B5EF4-FFF2-40B4-BE49-F238E27FC236}">
                <a16:creationId xmlns:a16="http://schemas.microsoft.com/office/drawing/2014/main" id="{1093DEFE-672C-5643-F36E-A4DE50EFE6B8}"/>
              </a:ext>
            </a:extLst>
          </p:cNvPr>
          <p:cNvPicPr>
            <a:picLocks noChangeAspect="1"/>
          </p:cNvPicPr>
          <p:nvPr/>
        </p:nvPicPr>
        <p:blipFill>
          <a:blip r:embed="rId4"/>
          <a:stretch>
            <a:fillRect/>
          </a:stretch>
        </p:blipFill>
        <p:spPr>
          <a:xfrm>
            <a:off x="0" y="3563926"/>
            <a:ext cx="5822831" cy="3123205"/>
          </a:xfrm>
          <a:prstGeom prst="rect">
            <a:avLst/>
          </a:prstGeom>
        </p:spPr>
      </p:pic>
      <p:pic>
        <p:nvPicPr>
          <p:cNvPr id="6" name="Picture 5" descr="A graph of a line graph&#10;&#10;AI-generated content may be incorrect.">
            <a:extLst>
              <a:ext uri="{FF2B5EF4-FFF2-40B4-BE49-F238E27FC236}">
                <a16:creationId xmlns:a16="http://schemas.microsoft.com/office/drawing/2014/main" id="{8E691BC5-053A-42D2-81B5-0ED088279F1A}"/>
              </a:ext>
            </a:extLst>
          </p:cNvPr>
          <p:cNvPicPr>
            <a:picLocks noChangeAspect="1"/>
          </p:cNvPicPr>
          <p:nvPr/>
        </p:nvPicPr>
        <p:blipFill>
          <a:blip r:embed="rId5"/>
          <a:stretch>
            <a:fillRect/>
          </a:stretch>
        </p:blipFill>
        <p:spPr>
          <a:xfrm>
            <a:off x="6238625" y="1975450"/>
            <a:ext cx="5825128" cy="4689894"/>
          </a:xfrm>
          <a:prstGeom prst="rect">
            <a:avLst/>
          </a:prstGeom>
        </p:spPr>
      </p:pic>
      <p:sp>
        <p:nvSpPr>
          <p:cNvPr id="7" name="TextBox 6">
            <a:extLst>
              <a:ext uri="{FF2B5EF4-FFF2-40B4-BE49-F238E27FC236}">
                <a16:creationId xmlns:a16="http://schemas.microsoft.com/office/drawing/2014/main" id="{126D9B41-F29F-F3F9-D9AB-ACEC9D8BF974}"/>
              </a:ext>
            </a:extLst>
          </p:cNvPr>
          <p:cNvSpPr txBox="1"/>
          <p:nvPr/>
        </p:nvSpPr>
        <p:spPr>
          <a:xfrm>
            <a:off x="238665" y="700257"/>
            <a:ext cx="390776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dirty="0">
              <a:solidFill>
                <a:schemeClr val="bg1"/>
              </a:solidFill>
            </a:endParaRPr>
          </a:p>
          <a:p>
            <a:pPr>
              <a:buFont typeface=""/>
              <a:buAutoNum type="arabicPeriod"/>
            </a:pPr>
            <a:r>
              <a:rPr lang="en-US" dirty="0">
                <a:solidFill>
                  <a:schemeClr val="bg1"/>
                </a:solidFill>
              </a:rPr>
              <a:t>Import necessary libraries: pandas and </a:t>
            </a:r>
            <a:r>
              <a:rPr lang="en-US" dirty="0" err="1">
                <a:solidFill>
                  <a:schemeClr val="bg1"/>
                </a:solidFill>
              </a:rPr>
              <a:t>matplotlib.pyplot</a:t>
            </a:r>
          </a:p>
          <a:p>
            <a:r>
              <a:rPr lang="en-US" dirty="0">
                <a:solidFill>
                  <a:schemeClr val="bg1"/>
                </a:solidFill>
              </a:rPr>
              <a:t> </a:t>
            </a:r>
            <a:r>
              <a:rPr lang="en-US" dirty="0">
                <a:solidFill>
                  <a:srgbClr val="000000"/>
                </a:solidFill>
              </a:rPr>
              <a:t>e</a:t>
            </a:r>
            <a:r>
              <a:rPr lang="en-US" dirty="0"/>
              <a:t>.</a:t>
            </a:r>
          </a:p>
        </p:txBody>
      </p:sp>
      <p:sp>
        <p:nvSpPr>
          <p:cNvPr id="8" name="TextBox 7" descr="Load the dataset as a DataFrame named lefthanded_data.">
            <a:extLst>
              <a:ext uri="{FF2B5EF4-FFF2-40B4-BE49-F238E27FC236}">
                <a16:creationId xmlns:a16="http://schemas.microsoft.com/office/drawing/2014/main" id="{FE1675F0-65AB-DF64-A2DD-5EE3B684E4F0}"/>
              </a:ext>
            </a:extLst>
          </p:cNvPr>
          <p:cNvSpPr txBox="1"/>
          <p:nvPr/>
        </p:nvSpPr>
        <p:spPr>
          <a:xfrm>
            <a:off x="3919267" y="973138"/>
            <a:ext cx="3548332" cy="646331"/>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2.Load the dataset as a Data Frame named left handed data.</a:t>
            </a:r>
          </a:p>
        </p:txBody>
      </p:sp>
      <p:sp>
        <p:nvSpPr>
          <p:cNvPr id="9" name="TextBox 8">
            <a:extLst>
              <a:ext uri="{FF2B5EF4-FFF2-40B4-BE49-F238E27FC236}">
                <a16:creationId xmlns:a16="http://schemas.microsoft.com/office/drawing/2014/main" id="{8E5429A5-F88B-542C-8C07-215C2489ADEC}"/>
              </a:ext>
            </a:extLst>
          </p:cNvPr>
          <p:cNvSpPr txBox="1"/>
          <p:nvPr/>
        </p:nvSpPr>
        <p:spPr>
          <a:xfrm>
            <a:off x="8059946" y="540589"/>
            <a:ext cx="271444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3.Use the .plot() method to create a scatter plot with the Male and Female columns vs Age.</a:t>
            </a:r>
            <a:endParaRPr lang="en-US">
              <a:solidFill>
                <a:schemeClr val="bg1"/>
              </a:solidFill>
            </a:endParaRPr>
          </a:p>
        </p:txBody>
      </p:sp>
    </p:spTree>
    <p:extLst>
      <p:ext uri="{BB962C8B-B14F-4D97-AF65-F5344CB8AC3E}">
        <p14:creationId xmlns:p14="http://schemas.microsoft.com/office/powerpoint/2010/main" val="785594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fillRect l="-6000" r="-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C60E3-0CE0-82AF-BC01-5C81D3A179DC}"/>
              </a:ext>
            </a:extLst>
          </p:cNvPr>
          <p:cNvSpPr>
            <a:spLocks noGrp="1"/>
          </p:cNvSpPr>
          <p:nvPr>
            <p:ph type="title"/>
          </p:nvPr>
        </p:nvSpPr>
        <p:spPr>
          <a:xfrm>
            <a:off x="1097280" y="286603"/>
            <a:ext cx="10058400" cy="401210"/>
          </a:xfrm>
        </p:spPr>
        <p:txBody>
          <a:bodyPr>
            <a:normAutofit fontScale="90000"/>
          </a:bodyPr>
          <a:lstStyle/>
          <a:p>
            <a:pPr algn="ctr">
              <a:spcBef>
                <a:spcPts val="0"/>
              </a:spcBef>
            </a:pPr>
            <a:r>
              <a:rPr lang="en-US" b="1" u="sng" dirty="0">
                <a:solidFill>
                  <a:schemeClr val="bg1"/>
                </a:solidFill>
              </a:rPr>
              <a:t>TASK - 2</a:t>
            </a:r>
          </a:p>
        </p:txBody>
      </p:sp>
      <p:sp>
        <p:nvSpPr>
          <p:cNvPr id="3" name="Content Placeholder 2">
            <a:extLst>
              <a:ext uri="{FF2B5EF4-FFF2-40B4-BE49-F238E27FC236}">
                <a16:creationId xmlns:a16="http://schemas.microsoft.com/office/drawing/2014/main" id="{C93D69E4-DBE9-C581-9D13-615228FA868F}"/>
              </a:ext>
            </a:extLst>
          </p:cNvPr>
          <p:cNvSpPr>
            <a:spLocks noGrp="1"/>
          </p:cNvSpPr>
          <p:nvPr>
            <p:ph idx="1"/>
          </p:nvPr>
        </p:nvSpPr>
        <p:spPr>
          <a:xfrm>
            <a:off x="1212298" y="1518729"/>
            <a:ext cx="10058400" cy="4048437"/>
          </a:xfrm>
        </p:spPr>
        <p:txBody>
          <a:bodyPr vert="horz" lIns="0" tIns="45720" rIns="0" bIns="45720" rtlCol="0" anchor="t">
            <a:noAutofit/>
          </a:bodyPr>
          <a:lstStyle/>
          <a:p>
            <a:r>
              <a:rPr lang="en-US" sz="2800" b="1" dirty="0">
                <a:solidFill>
                  <a:schemeClr val="bg1"/>
                </a:solidFill>
              </a:rPr>
              <a:t>Task 2 Instructions</a:t>
            </a:r>
            <a:endParaRPr lang="en-US" sz="2800">
              <a:solidFill>
                <a:schemeClr val="bg1"/>
              </a:solidFill>
            </a:endParaRPr>
          </a:p>
          <a:p>
            <a:r>
              <a:rPr lang="en-US" sz="2800" dirty="0">
                <a:solidFill>
                  <a:schemeClr val="bg1"/>
                </a:solidFill>
                <a:ea typeface="+mn-lt"/>
                <a:cs typeface="+mn-lt"/>
              </a:rPr>
              <a:t>Add a column </a:t>
            </a:r>
            <a:r>
              <a:rPr lang="en-US" sz="2800" dirty="0">
                <a:solidFill>
                  <a:schemeClr val="bg1"/>
                </a:solidFill>
                <a:latin typeface="Consolas"/>
              </a:rPr>
              <a:t>Birth year</a:t>
            </a:r>
            <a:r>
              <a:rPr lang="en-US" sz="2800" dirty="0">
                <a:solidFill>
                  <a:schemeClr val="bg1"/>
                </a:solidFill>
                <a:ea typeface="+mn-lt"/>
                <a:cs typeface="+mn-lt"/>
              </a:rPr>
              <a:t>:</a:t>
            </a:r>
            <a:endParaRPr lang="en-US" sz="2800">
              <a:solidFill>
                <a:schemeClr val="bg1"/>
              </a:solidFill>
            </a:endParaRPr>
          </a:p>
          <a:p>
            <a:pPr marL="383540" lvl="1"/>
            <a:r>
              <a:rPr lang="en-US" sz="2400" dirty="0">
                <a:solidFill>
                  <a:schemeClr val="bg1"/>
                </a:solidFill>
                <a:ea typeface="+mn-lt"/>
                <a:cs typeface="+mn-lt"/>
              </a:rPr>
              <a:t>Subtract </a:t>
            </a:r>
            <a:r>
              <a:rPr lang="en-US" sz="2400" dirty="0">
                <a:solidFill>
                  <a:schemeClr val="bg1"/>
                </a:solidFill>
                <a:latin typeface="Consolas"/>
              </a:rPr>
              <a:t>Age</a:t>
            </a:r>
            <a:r>
              <a:rPr lang="en-US" sz="2400" dirty="0">
                <a:solidFill>
                  <a:schemeClr val="bg1"/>
                </a:solidFill>
                <a:ea typeface="+mn-lt"/>
                <a:cs typeface="+mn-lt"/>
              </a:rPr>
              <a:t> from </a:t>
            </a:r>
            <a:r>
              <a:rPr lang="en-US" sz="2400" dirty="0">
                <a:solidFill>
                  <a:schemeClr val="bg1"/>
                </a:solidFill>
                <a:latin typeface="Consolas"/>
              </a:rPr>
              <a:t>1986</a:t>
            </a:r>
            <a:r>
              <a:rPr lang="en-US" sz="2400" dirty="0">
                <a:solidFill>
                  <a:schemeClr val="bg1"/>
                </a:solidFill>
                <a:ea typeface="+mn-lt"/>
                <a:cs typeface="+mn-lt"/>
              </a:rPr>
              <a:t> (the study year) to calculate the year of birth.</a:t>
            </a:r>
            <a:endParaRPr lang="en-US" sz="2400">
              <a:solidFill>
                <a:schemeClr val="bg1"/>
              </a:solidFill>
            </a:endParaRPr>
          </a:p>
          <a:p>
            <a:r>
              <a:rPr lang="en-US" sz="2800" dirty="0">
                <a:solidFill>
                  <a:schemeClr val="bg1"/>
                </a:solidFill>
                <a:ea typeface="+mn-lt"/>
                <a:cs typeface="+mn-lt"/>
              </a:rPr>
              <a:t>Add a column </a:t>
            </a:r>
            <a:r>
              <a:rPr lang="en-US" sz="2800" err="1">
                <a:solidFill>
                  <a:schemeClr val="bg1"/>
                </a:solidFill>
                <a:latin typeface="Consolas"/>
              </a:rPr>
              <a:t>Meanlh</a:t>
            </a:r>
            <a:r>
              <a:rPr lang="en-US" sz="2800" dirty="0">
                <a:solidFill>
                  <a:schemeClr val="bg1"/>
                </a:solidFill>
                <a:ea typeface="+mn-lt"/>
                <a:cs typeface="+mn-lt"/>
              </a:rPr>
              <a:t>:</a:t>
            </a:r>
            <a:endParaRPr lang="en-US" sz="2800">
              <a:solidFill>
                <a:schemeClr val="bg1"/>
              </a:solidFill>
            </a:endParaRPr>
          </a:p>
          <a:p>
            <a:pPr marL="383540" lvl="1"/>
            <a:r>
              <a:rPr lang="en-US" sz="2400" dirty="0">
                <a:solidFill>
                  <a:schemeClr val="bg1"/>
                </a:solidFill>
                <a:ea typeface="+mn-lt"/>
                <a:cs typeface="+mn-lt"/>
              </a:rPr>
              <a:t>Calculate the mean of the </a:t>
            </a:r>
            <a:r>
              <a:rPr lang="en-US" sz="2400" dirty="0">
                <a:solidFill>
                  <a:schemeClr val="bg1"/>
                </a:solidFill>
                <a:latin typeface="Consolas"/>
              </a:rPr>
              <a:t>Male</a:t>
            </a:r>
            <a:r>
              <a:rPr lang="en-US" sz="2400" dirty="0">
                <a:solidFill>
                  <a:schemeClr val="bg1"/>
                </a:solidFill>
                <a:ea typeface="+mn-lt"/>
                <a:cs typeface="+mn-lt"/>
              </a:rPr>
              <a:t> and </a:t>
            </a:r>
            <a:r>
              <a:rPr lang="en-US" sz="2400" dirty="0">
                <a:solidFill>
                  <a:schemeClr val="bg1"/>
                </a:solidFill>
                <a:latin typeface="Consolas"/>
              </a:rPr>
              <a:t>Female</a:t>
            </a:r>
            <a:r>
              <a:rPr lang="en-US" sz="2400" dirty="0">
                <a:solidFill>
                  <a:schemeClr val="bg1"/>
                </a:solidFill>
                <a:ea typeface="+mn-lt"/>
                <a:cs typeface="+mn-lt"/>
              </a:rPr>
              <a:t> columns for each row.</a:t>
            </a:r>
            <a:endParaRPr lang="en-US" sz="2400">
              <a:solidFill>
                <a:schemeClr val="bg1"/>
              </a:solidFill>
            </a:endParaRPr>
          </a:p>
          <a:p>
            <a:r>
              <a:rPr lang="en-US" sz="2800" dirty="0">
                <a:solidFill>
                  <a:schemeClr val="bg1"/>
                </a:solidFill>
                <a:ea typeface="+mn-lt"/>
                <a:cs typeface="+mn-lt"/>
              </a:rPr>
              <a:t>Create a plot of </a:t>
            </a:r>
            <a:r>
              <a:rPr lang="en-US" sz="2800" err="1">
                <a:solidFill>
                  <a:schemeClr val="bg1"/>
                </a:solidFill>
                <a:latin typeface="Consolas"/>
              </a:rPr>
              <a:t>Meanlh</a:t>
            </a:r>
            <a:r>
              <a:rPr lang="en-US" sz="2800" dirty="0">
                <a:solidFill>
                  <a:schemeClr val="bg1"/>
                </a:solidFill>
                <a:ea typeface="+mn-lt"/>
                <a:cs typeface="+mn-lt"/>
              </a:rPr>
              <a:t> vs </a:t>
            </a:r>
            <a:r>
              <a:rPr lang="en-US" sz="2800" dirty="0">
                <a:solidFill>
                  <a:schemeClr val="bg1"/>
                </a:solidFill>
                <a:latin typeface="Consolas"/>
              </a:rPr>
              <a:t>Birth year</a:t>
            </a:r>
            <a:r>
              <a:rPr lang="en-US" sz="2800" dirty="0">
                <a:solidFill>
                  <a:schemeClr val="bg1"/>
                </a:solidFill>
                <a:ea typeface="+mn-lt"/>
                <a:cs typeface="+mn-lt"/>
              </a:rPr>
              <a:t>.</a:t>
            </a:r>
            <a:endParaRPr lang="en-US" sz="2800">
              <a:solidFill>
                <a:schemeClr val="bg1"/>
              </a:solidFill>
            </a:endParaRPr>
          </a:p>
          <a:p>
            <a:endParaRPr lang="en-US" dirty="0"/>
          </a:p>
        </p:txBody>
      </p:sp>
    </p:spTree>
    <p:extLst>
      <p:ext uri="{BB962C8B-B14F-4D97-AF65-F5344CB8AC3E}">
        <p14:creationId xmlns:p14="http://schemas.microsoft.com/office/powerpoint/2010/main" val="1605124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fillRect t="-17000" b="-17000"/>
          </a:stretch>
        </a:blipFill>
        <a:effectLst/>
      </p:bgPr>
    </p:bg>
    <p:spTree>
      <p:nvGrpSpPr>
        <p:cNvPr id="1" name=""/>
        <p:cNvGrpSpPr/>
        <p:nvPr/>
      </p:nvGrpSpPr>
      <p:grpSpPr>
        <a:xfrm>
          <a:off x="0" y="0"/>
          <a:ext cx="0" cy="0"/>
          <a:chOff x="0" y="0"/>
          <a:chExt cx="0" cy="0"/>
        </a:xfrm>
      </p:grpSpPr>
      <p:pic>
        <p:nvPicPr>
          <p:cNvPr id="4" name="Content Placeholder 3" descr="A screenshot of a computer code&#10;&#10;AI-generated content may be incorrect.">
            <a:extLst>
              <a:ext uri="{FF2B5EF4-FFF2-40B4-BE49-F238E27FC236}">
                <a16:creationId xmlns:a16="http://schemas.microsoft.com/office/drawing/2014/main" id="{40FC7CE8-7B0D-7262-98B7-A17A439C388F}"/>
              </a:ext>
            </a:extLst>
          </p:cNvPr>
          <p:cNvPicPr>
            <a:picLocks noGrp="1" noChangeAspect="1"/>
          </p:cNvPicPr>
          <p:nvPr>
            <p:ph idx="4294967295"/>
          </p:nvPr>
        </p:nvPicPr>
        <p:blipFill>
          <a:blip r:embed="rId3"/>
          <a:srcRect t="-36242" r="-860" b="-24497"/>
          <a:stretch/>
        </p:blipFill>
        <p:spPr>
          <a:xfrm>
            <a:off x="115018" y="-820133"/>
            <a:ext cx="6525252" cy="7212013"/>
          </a:xfrm>
        </p:spPr>
      </p:pic>
      <p:pic>
        <p:nvPicPr>
          <p:cNvPr id="5" name="Picture 4" descr="A graph showing the birth of a baby&#10;&#10;AI-generated content may be incorrect.">
            <a:extLst>
              <a:ext uri="{FF2B5EF4-FFF2-40B4-BE49-F238E27FC236}">
                <a16:creationId xmlns:a16="http://schemas.microsoft.com/office/drawing/2014/main" id="{496AED96-FDFB-371C-01C3-5CE661C44196}"/>
              </a:ext>
            </a:extLst>
          </p:cNvPr>
          <p:cNvPicPr>
            <a:picLocks noChangeAspect="1"/>
          </p:cNvPicPr>
          <p:nvPr/>
        </p:nvPicPr>
        <p:blipFill>
          <a:blip r:embed="rId4"/>
          <a:stretch>
            <a:fillRect/>
          </a:stretch>
        </p:blipFill>
        <p:spPr>
          <a:xfrm>
            <a:off x="6773775" y="379562"/>
            <a:ext cx="5186146" cy="5523781"/>
          </a:xfrm>
          <a:prstGeom prst="rect">
            <a:avLst/>
          </a:prstGeom>
        </p:spPr>
      </p:pic>
    </p:spTree>
    <p:extLst>
      <p:ext uri="{BB962C8B-B14F-4D97-AF65-F5344CB8AC3E}">
        <p14:creationId xmlns:p14="http://schemas.microsoft.com/office/powerpoint/2010/main" val="2618092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73ECEC8-0F24-45B8-950F-35FC94BCEA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A5C7CA-5EF0-8303-B4E7-2DDEF657A585}"/>
              </a:ext>
            </a:extLst>
          </p:cNvPr>
          <p:cNvSpPr>
            <a:spLocks noGrp="1"/>
          </p:cNvSpPr>
          <p:nvPr>
            <p:ph type="title"/>
          </p:nvPr>
        </p:nvSpPr>
        <p:spPr>
          <a:xfrm>
            <a:off x="728521" y="505549"/>
            <a:ext cx="3690257" cy="1450757"/>
          </a:xfrm>
        </p:spPr>
        <p:txBody>
          <a:bodyPr vert="horz" lIns="91440" tIns="45720" rIns="91440" bIns="45720" rtlCol="0" anchor="b">
            <a:normAutofit/>
          </a:bodyPr>
          <a:lstStyle/>
          <a:p>
            <a:r>
              <a:rPr lang="en-US" sz="4800" b="1" u="sng"/>
              <a:t>TASK - 3</a:t>
            </a:r>
          </a:p>
        </p:txBody>
      </p:sp>
      <p:cxnSp>
        <p:nvCxnSpPr>
          <p:cNvPr id="19" name="Straight Connector 18">
            <a:extLst>
              <a:ext uri="{FF2B5EF4-FFF2-40B4-BE49-F238E27FC236}">
                <a16:creationId xmlns:a16="http://schemas.microsoft.com/office/drawing/2014/main" id="{89EB8C68-FF1B-4849-867B-32D29B19F10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0797" y="2250460"/>
            <a:ext cx="34747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screenshot of a computer code&#10;&#10;AI-generated content may be incorrect.">
            <a:extLst>
              <a:ext uri="{FF2B5EF4-FFF2-40B4-BE49-F238E27FC236}">
                <a16:creationId xmlns:a16="http://schemas.microsoft.com/office/drawing/2014/main" id="{2FFC8A71-7DB8-4853-1AB0-C32074843D68}"/>
              </a:ext>
            </a:extLst>
          </p:cNvPr>
          <p:cNvPicPr>
            <a:picLocks noGrp="1" noChangeAspect="1"/>
          </p:cNvPicPr>
          <p:nvPr>
            <p:ph idx="1"/>
          </p:nvPr>
        </p:nvPicPr>
        <p:blipFill>
          <a:blip r:embed="rId2"/>
          <a:srcRect r="1" b="1115"/>
          <a:stretch/>
        </p:blipFill>
        <p:spPr>
          <a:xfrm>
            <a:off x="4648201" y="640081"/>
            <a:ext cx="6909801" cy="5314406"/>
          </a:xfrm>
          <a:prstGeom prst="rect">
            <a:avLst/>
          </a:prstGeom>
        </p:spPr>
      </p:pic>
      <p:sp>
        <p:nvSpPr>
          <p:cNvPr id="21" name="Rectangle 20">
            <a:extLst>
              <a:ext uri="{FF2B5EF4-FFF2-40B4-BE49-F238E27FC236}">
                <a16:creationId xmlns:a16="http://schemas.microsoft.com/office/drawing/2014/main" id="{8B53612E-ADB2-4457-9688-89506397A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TextBox 6">
            <a:extLst>
              <a:ext uri="{FF2B5EF4-FFF2-40B4-BE49-F238E27FC236}">
                <a16:creationId xmlns:a16="http://schemas.microsoft.com/office/drawing/2014/main" id="{002B3C2D-12C2-DAC5-DFED-0FA78B403C5B}"/>
              </a:ext>
            </a:extLst>
          </p:cNvPr>
          <p:cNvSpPr txBox="1"/>
          <p:nvPr/>
        </p:nvSpPr>
        <p:spPr>
          <a:xfrm>
            <a:off x="727494" y="2323381"/>
            <a:ext cx="2743200"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dirty="0"/>
              <a:t>Create a function to calculate P(LH∣A)P(\text{LH} | A)P(LH∣A) for particular ages.</a:t>
            </a:r>
          </a:p>
          <a:p>
            <a:pPr marL="342900" indent="-342900">
              <a:buFontTx/>
              <a:buAutoNum type="arabicPeriod"/>
            </a:pPr>
            <a:endParaRPr lang="en-US" dirty="0"/>
          </a:p>
          <a:p>
            <a:pPr marL="228600" lvl="1" indent="-228600">
              <a:buFont typeface=""/>
              <a:buChar char="•"/>
            </a:pPr>
            <a:r>
              <a:rPr lang="en-US" dirty="0"/>
              <a:t>Import </a:t>
            </a:r>
            <a:r>
              <a:rPr lang="en-US" dirty="0" err="1"/>
              <a:t>numpy</a:t>
            </a:r>
            <a:r>
              <a:rPr lang="en-US" dirty="0"/>
              <a:t> and calculate early/late 1900s rates using the first and last ten rows of Mean </a:t>
            </a:r>
            <a:r>
              <a:rPr lang="en-US" dirty="0" err="1"/>
              <a:t>lh</a:t>
            </a:r>
            <a:r>
              <a:rPr lang="en-US" dirty="0"/>
              <a:t>.</a:t>
            </a:r>
          </a:p>
          <a:p>
            <a:pPr marL="228600" lvl="1" indent="-228600">
              <a:buFont typeface=""/>
              <a:buChar char="•"/>
            </a:pPr>
            <a:endParaRPr lang="en-US" dirty="0"/>
          </a:p>
          <a:p>
            <a:pPr>
              <a:buAutoNum type="arabicPeriod"/>
            </a:pPr>
            <a:r>
              <a:rPr lang="en-US" dirty="0"/>
              <a:t>Use these rates to calculate PPP values.</a:t>
            </a:r>
          </a:p>
        </p:txBody>
      </p:sp>
    </p:spTree>
    <p:extLst>
      <p:ext uri="{BB962C8B-B14F-4D97-AF65-F5344CB8AC3E}">
        <p14:creationId xmlns:p14="http://schemas.microsoft.com/office/powerpoint/2010/main" val="866345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t="-3000" b="-3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62401-2BD5-BCBC-2BBF-19197ADF97D1}"/>
              </a:ext>
            </a:extLst>
          </p:cNvPr>
          <p:cNvSpPr>
            <a:spLocks noGrp="1"/>
          </p:cNvSpPr>
          <p:nvPr>
            <p:ph type="title"/>
          </p:nvPr>
        </p:nvSpPr>
        <p:spPr>
          <a:xfrm>
            <a:off x="1097280" y="286603"/>
            <a:ext cx="10058400" cy="415588"/>
          </a:xfrm>
        </p:spPr>
        <p:txBody>
          <a:bodyPr>
            <a:normAutofit fontScale="90000"/>
          </a:bodyPr>
          <a:lstStyle/>
          <a:p>
            <a:pPr algn="ctr">
              <a:spcBef>
                <a:spcPts val="0"/>
              </a:spcBef>
            </a:pPr>
            <a:r>
              <a:rPr lang="en-US" b="1" u="sng" dirty="0">
                <a:solidFill>
                  <a:schemeClr val="bg1"/>
                </a:solidFill>
              </a:rPr>
              <a:t>TASK - 4</a:t>
            </a:r>
          </a:p>
        </p:txBody>
      </p:sp>
      <p:sp>
        <p:nvSpPr>
          <p:cNvPr id="3" name="Content Placeholder 2">
            <a:extLst>
              <a:ext uri="{FF2B5EF4-FFF2-40B4-BE49-F238E27FC236}">
                <a16:creationId xmlns:a16="http://schemas.microsoft.com/office/drawing/2014/main" id="{A72D6367-8C9B-E6A7-E7EC-21EEE3189F10}"/>
              </a:ext>
            </a:extLst>
          </p:cNvPr>
          <p:cNvSpPr>
            <a:spLocks noGrp="1"/>
          </p:cNvSpPr>
          <p:nvPr>
            <p:ph idx="1"/>
          </p:nvPr>
        </p:nvSpPr>
        <p:spPr/>
        <p:txBody>
          <a:bodyPr vert="horz" lIns="0" tIns="45720" rIns="0" bIns="45720" rtlCol="0" anchor="t">
            <a:normAutofit/>
          </a:bodyPr>
          <a:lstStyle/>
          <a:p>
            <a:pPr>
              <a:buFont typeface="Wingdings" panose="020F0502020204030204" pitchFamily="34" charset="0"/>
              <a:buChar char="Ø"/>
            </a:pPr>
            <a:r>
              <a:rPr lang="en-US" sz="2400" dirty="0">
                <a:solidFill>
                  <a:schemeClr val="bg1"/>
                </a:solidFill>
                <a:ea typeface="+mn-lt"/>
                <a:cs typeface="+mn-lt"/>
              </a:rPr>
              <a:t>Load the death distribution data (</a:t>
            </a:r>
            <a:r>
              <a:rPr lang="en-US" sz="2400" dirty="0">
                <a:solidFill>
                  <a:schemeClr val="bg1"/>
                </a:solidFill>
                <a:latin typeface="Consolas"/>
              </a:rPr>
              <a:t>data_url_2</a:t>
            </a:r>
            <a:r>
              <a:rPr lang="en-US" sz="2400" dirty="0">
                <a:solidFill>
                  <a:schemeClr val="bg1"/>
                </a:solidFill>
                <a:ea typeface="+mn-lt"/>
                <a:cs typeface="+mn-lt"/>
              </a:rPr>
              <a:t>) using </a:t>
            </a:r>
            <a:r>
              <a:rPr lang="en-US" sz="2400" dirty="0">
                <a:solidFill>
                  <a:schemeClr val="bg1"/>
                </a:solidFill>
                <a:latin typeface="Consolas"/>
              </a:rPr>
              <a:t>pandas</a:t>
            </a:r>
            <a:r>
              <a:rPr lang="en-US" sz="2400" dirty="0">
                <a:solidFill>
                  <a:schemeClr val="bg1"/>
                </a:solidFill>
                <a:ea typeface="+mn-lt"/>
                <a:cs typeface="+mn-lt"/>
              </a:rPr>
              <a:t>.</a:t>
            </a:r>
            <a:endParaRPr lang="en-US" sz="2400" dirty="0">
              <a:solidFill>
                <a:schemeClr val="bg1"/>
              </a:solidFill>
            </a:endParaRPr>
          </a:p>
          <a:p>
            <a:pPr>
              <a:buFont typeface="Wingdings" panose="020F0502020204030204" pitchFamily="34" charset="0"/>
              <a:buChar char="Ø"/>
            </a:pPr>
            <a:r>
              <a:rPr lang="en-US" sz="2400" dirty="0">
                <a:solidFill>
                  <a:schemeClr val="bg1"/>
                </a:solidFill>
                <a:ea typeface="+mn-lt"/>
                <a:cs typeface="+mn-lt"/>
              </a:rPr>
              <a:t>Set </a:t>
            </a:r>
            <a:r>
              <a:rPr lang="en-US" sz="2400" u="sng" err="1">
                <a:solidFill>
                  <a:schemeClr val="bg1"/>
                </a:solidFill>
                <a:latin typeface="Consolas"/>
              </a:rPr>
              <a:t>sep</a:t>
            </a:r>
            <a:r>
              <a:rPr lang="en-US" sz="2400" dirty="0">
                <a:solidFill>
                  <a:schemeClr val="bg1"/>
                </a:solidFill>
                <a:latin typeface="Consolas"/>
              </a:rPr>
              <a:t> ="\t"</a:t>
            </a:r>
            <a:r>
              <a:rPr lang="en-US" sz="2400" dirty="0">
                <a:solidFill>
                  <a:schemeClr val="bg1"/>
                </a:solidFill>
                <a:ea typeface="+mn-lt"/>
                <a:cs typeface="+mn-lt"/>
              </a:rPr>
              <a:t> and </a:t>
            </a:r>
            <a:r>
              <a:rPr lang="en-US" sz="2400" dirty="0">
                <a:solidFill>
                  <a:schemeClr val="bg1"/>
                </a:solidFill>
                <a:latin typeface="Consolas"/>
              </a:rPr>
              <a:t>skip rows=1</a:t>
            </a:r>
            <a:r>
              <a:rPr lang="en-US" sz="2400" dirty="0">
                <a:solidFill>
                  <a:schemeClr val="bg1"/>
                </a:solidFill>
                <a:ea typeface="+mn-lt"/>
                <a:cs typeface="+mn-lt"/>
              </a:rPr>
              <a:t> to handle the tab-separated format and skip the first row.</a:t>
            </a:r>
            <a:endParaRPr lang="en-US" sz="2400" dirty="0">
              <a:solidFill>
                <a:schemeClr val="bg1"/>
              </a:solidFill>
            </a:endParaRPr>
          </a:p>
          <a:p>
            <a:pPr>
              <a:buFont typeface="Wingdings" panose="020F0502020204030204" pitchFamily="34" charset="0"/>
              <a:buChar char="Ø"/>
            </a:pPr>
            <a:r>
              <a:rPr lang="en-US" sz="2400" dirty="0">
                <a:solidFill>
                  <a:schemeClr val="bg1"/>
                </a:solidFill>
                <a:ea typeface="+mn-lt"/>
                <a:cs typeface="+mn-lt"/>
              </a:rPr>
              <a:t>Drop </a:t>
            </a:r>
            <a:r>
              <a:rPr lang="en-US" sz="2400" dirty="0" err="1">
                <a:solidFill>
                  <a:schemeClr val="bg1"/>
                </a:solidFill>
                <a:ea typeface="+mn-lt"/>
                <a:cs typeface="+mn-lt"/>
              </a:rPr>
              <a:t>NaN</a:t>
            </a:r>
            <a:r>
              <a:rPr lang="en-US" sz="2400" dirty="0">
                <a:solidFill>
                  <a:schemeClr val="bg1"/>
                </a:solidFill>
                <a:ea typeface="+mn-lt"/>
                <a:cs typeface="+mn-lt"/>
              </a:rPr>
              <a:t> values from the </a:t>
            </a:r>
            <a:r>
              <a:rPr lang="en-US" sz="2400" dirty="0">
                <a:solidFill>
                  <a:schemeClr val="bg1"/>
                </a:solidFill>
                <a:latin typeface="Consolas"/>
              </a:rPr>
              <a:t>Both Sexes</a:t>
            </a:r>
            <a:r>
              <a:rPr lang="en-US" sz="2400" dirty="0">
                <a:solidFill>
                  <a:schemeClr val="bg1"/>
                </a:solidFill>
                <a:ea typeface="+mn-lt"/>
                <a:cs typeface="+mn-lt"/>
              </a:rPr>
              <a:t> column.</a:t>
            </a:r>
            <a:endParaRPr lang="en-US" sz="2400" dirty="0">
              <a:solidFill>
                <a:schemeClr val="bg1"/>
              </a:solidFill>
            </a:endParaRPr>
          </a:p>
          <a:p>
            <a:pPr>
              <a:buFont typeface="Wingdings" panose="020F0502020204030204" pitchFamily="34" charset="0"/>
              <a:buChar char="Ø"/>
            </a:pPr>
            <a:r>
              <a:rPr lang="en-US" sz="2400" dirty="0">
                <a:solidFill>
                  <a:schemeClr val="bg1"/>
                </a:solidFill>
                <a:ea typeface="+mn-lt"/>
                <a:cs typeface="+mn-lt"/>
              </a:rPr>
              <a:t>Plot the number of deaths (</a:t>
            </a:r>
            <a:r>
              <a:rPr lang="en-US" sz="2400" dirty="0">
                <a:solidFill>
                  <a:schemeClr val="bg1"/>
                </a:solidFill>
                <a:latin typeface="Consolas"/>
              </a:rPr>
              <a:t>Both Sexes</a:t>
            </a:r>
            <a:r>
              <a:rPr lang="en-US" sz="2400" dirty="0">
                <a:solidFill>
                  <a:schemeClr val="bg1"/>
                </a:solidFill>
                <a:ea typeface="+mn-lt"/>
                <a:cs typeface="+mn-lt"/>
              </a:rPr>
              <a:t>) as a function of </a:t>
            </a:r>
            <a:r>
              <a:rPr lang="en-US" sz="2400" dirty="0">
                <a:solidFill>
                  <a:schemeClr val="bg1"/>
                </a:solidFill>
                <a:latin typeface="Consolas"/>
              </a:rPr>
              <a:t>Age</a:t>
            </a:r>
            <a:endParaRPr lang="en-US" sz="2400" dirty="0">
              <a:solidFill>
                <a:schemeClr val="bg1"/>
              </a:solidFill>
            </a:endParaRPr>
          </a:p>
          <a:p>
            <a:pPr>
              <a:buFont typeface="Wingdings" panose="020F0502020204030204" pitchFamily="34" charset="0"/>
              <a:buChar char="Ø"/>
            </a:pPr>
            <a:endParaRPr lang="en-US" sz="2400" dirty="0">
              <a:solidFill>
                <a:schemeClr val="bg1"/>
              </a:solidFill>
            </a:endParaRPr>
          </a:p>
        </p:txBody>
      </p:sp>
    </p:spTree>
    <p:extLst>
      <p:ext uri="{BB962C8B-B14F-4D97-AF65-F5344CB8AC3E}">
        <p14:creationId xmlns:p14="http://schemas.microsoft.com/office/powerpoint/2010/main" val="945445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44C5A9E5-0F35-4AA6-AF26-B90A2D47B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graph of a number of people&#10;&#10;AI-generated content may be incorrect.">
            <a:extLst>
              <a:ext uri="{FF2B5EF4-FFF2-40B4-BE49-F238E27FC236}">
                <a16:creationId xmlns:a16="http://schemas.microsoft.com/office/drawing/2014/main" id="{6E4EDC30-78F2-C9EF-2B2D-0AD71F84F7B5}"/>
              </a:ext>
            </a:extLst>
          </p:cNvPr>
          <p:cNvPicPr>
            <a:picLocks noChangeAspect="1"/>
          </p:cNvPicPr>
          <p:nvPr/>
        </p:nvPicPr>
        <p:blipFill>
          <a:blip r:embed="rId2"/>
          <a:stretch>
            <a:fillRect/>
          </a:stretch>
        </p:blipFill>
        <p:spPr>
          <a:xfrm>
            <a:off x="643467" y="537120"/>
            <a:ext cx="5291666" cy="5355313"/>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34C44388-2E2E-1AC3-D6C3-C3686D9BCE07}"/>
              </a:ext>
            </a:extLst>
          </p:cNvPr>
          <p:cNvPicPr>
            <a:picLocks noChangeAspect="1"/>
          </p:cNvPicPr>
          <p:nvPr/>
        </p:nvPicPr>
        <p:blipFill>
          <a:blip r:embed="rId3"/>
          <a:stretch>
            <a:fillRect/>
          </a:stretch>
        </p:blipFill>
        <p:spPr>
          <a:xfrm>
            <a:off x="6314375" y="534701"/>
            <a:ext cx="5593590" cy="5345777"/>
          </a:xfrm>
          <a:prstGeom prst="rect">
            <a:avLst/>
          </a:prstGeom>
        </p:spPr>
      </p:pic>
      <p:sp>
        <p:nvSpPr>
          <p:cNvPr id="34" name="Rectangle 33">
            <a:extLst>
              <a:ext uri="{FF2B5EF4-FFF2-40B4-BE49-F238E27FC236}">
                <a16:creationId xmlns:a16="http://schemas.microsoft.com/office/drawing/2014/main" id="{50BC3489-C3CF-4390-987A-9726B9687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0383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5E0A8391-2737-4F1C-B27A-C44629DB4D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0C7CBB-4020-575F-BE1E-07EB40717833}"/>
              </a:ext>
            </a:extLst>
          </p:cNvPr>
          <p:cNvSpPr>
            <a:spLocks noGrp="1"/>
          </p:cNvSpPr>
          <p:nvPr>
            <p:ph type="title"/>
          </p:nvPr>
        </p:nvSpPr>
        <p:spPr>
          <a:xfrm>
            <a:off x="642256" y="642257"/>
            <a:ext cx="3417677" cy="5226837"/>
          </a:xfrm>
        </p:spPr>
        <p:txBody>
          <a:bodyPr vert="horz" lIns="91440" tIns="45720" rIns="91440" bIns="45720" rtlCol="0" anchor="t">
            <a:normAutofit/>
          </a:bodyPr>
          <a:lstStyle/>
          <a:p>
            <a:r>
              <a:rPr lang="en-US" sz="4800" b="1" u="sng">
                <a:solidFill>
                  <a:schemeClr val="tx1">
                    <a:lumMod val="75000"/>
                    <a:lumOff val="25000"/>
                  </a:schemeClr>
                </a:solidFill>
              </a:rPr>
              <a:t>TASK - 5</a:t>
            </a:r>
          </a:p>
        </p:txBody>
      </p:sp>
      <p:sp>
        <p:nvSpPr>
          <p:cNvPr id="4" name="Text Placeholder 3">
            <a:extLst>
              <a:ext uri="{FF2B5EF4-FFF2-40B4-BE49-F238E27FC236}">
                <a16:creationId xmlns:a16="http://schemas.microsoft.com/office/drawing/2014/main" id="{D72BF29D-112E-29F2-522F-9A1A38F571E9}"/>
              </a:ext>
            </a:extLst>
          </p:cNvPr>
          <p:cNvSpPr>
            <a:spLocks noGrp="1"/>
          </p:cNvSpPr>
          <p:nvPr>
            <p:ph type="body" sz="half" idx="2"/>
          </p:nvPr>
        </p:nvSpPr>
        <p:spPr>
          <a:xfrm>
            <a:off x="4713512" y="642258"/>
            <a:ext cx="6847117" cy="2537672"/>
          </a:xfrm>
        </p:spPr>
        <p:txBody>
          <a:bodyPr vert="horz" lIns="0" tIns="45720" rIns="0" bIns="45720" rtlCol="0" anchor="t">
            <a:normAutofit/>
          </a:bodyPr>
          <a:lstStyle/>
          <a:p>
            <a:pPr marL="285750" indent="-285750">
              <a:lnSpc>
                <a:spcPct val="100000"/>
              </a:lnSpc>
              <a:buFont typeface="Calibri" panose="020F0502020204030204" pitchFamily="34" charset="0"/>
              <a:buChar char="•"/>
            </a:pPr>
            <a:r>
              <a:rPr lang="en-US" dirty="0">
                <a:solidFill>
                  <a:schemeClr val="tx1">
                    <a:lumMod val="75000"/>
                    <a:lumOff val="25000"/>
                  </a:schemeClr>
                </a:solidFill>
              </a:rPr>
              <a:t>Create a function </a:t>
            </a:r>
            <a:r>
              <a:rPr lang="en-US" dirty="0" err="1">
                <a:solidFill>
                  <a:schemeClr val="tx1">
                    <a:lumMod val="75000"/>
                    <a:lumOff val="25000"/>
                  </a:schemeClr>
                </a:solidFill>
              </a:rPr>
              <a:t>P_lh</a:t>
            </a:r>
            <a:r>
              <a:rPr lang="en-US" dirty="0">
                <a:solidFill>
                  <a:schemeClr val="tx1">
                    <a:lumMod val="75000"/>
                    <a:lumOff val="25000"/>
                  </a:schemeClr>
                </a:solidFill>
              </a:rPr>
              <a:t>() to calculate the overall probability of left-handedness in the population for a given study year.</a:t>
            </a:r>
          </a:p>
          <a:p>
            <a:pPr marL="285750" indent="-285750">
              <a:lnSpc>
                <a:spcPct val="100000"/>
              </a:lnSpc>
              <a:buFont typeface="Calibri" panose="020F0502020204030204" pitchFamily="34" charset="0"/>
              <a:buChar char="•"/>
            </a:pPr>
            <a:r>
              <a:rPr lang="en-US" dirty="0">
                <a:solidFill>
                  <a:schemeClr val="tx1">
                    <a:lumMod val="75000"/>
                    <a:lumOff val="25000"/>
                  </a:schemeClr>
                </a:solidFill>
              </a:rPr>
              <a:t>Use the  </a:t>
            </a:r>
            <a:r>
              <a:rPr lang="en-US" dirty="0" err="1">
                <a:solidFill>
                  <a:schemeClr val="tx1">
                    <a:lumMod val="75000"/>
                    <a:lumOff val="25000"/>
                  </a:schemeClr>
                </a:solidFill>
              </a:rPr>
              <a:t>P_lh_given</a:t>
            </a:r>
            <a:r>
              <a:rPr lang="en-US" dirty="0">
                <a:solidFill>
                  <a:schemeClr val="tx1">
                    <a:lumMod val="75000"/>
                    <a:lumOff val="25000"/>
                  </a:schemeClr>
                </a:solidFill>
              </a:rPr>
              <a:t>_ A() function from </a:t>
            </a:r>
            <a:r>
              <a:rPr lang="en-US" b="1" dirty="0">
                <a:solidFill>
                  <a:schemeClr val="tx1">
                    <a:lumMod val="75000"/>
                    <a:lumOff val="25000"/>
                  </a:schemeClr>
                </a:solidFill>
              </a:rPr>
              <a:t>Task 3</a:t>
            </a:r>
            <a:r>
              <a:rPr lang="en-US" dirty="0">
                <a:solidFill>
                  <a:schemeClr val="tx1">
                    <a:lumMod val="75000"/>
                    <a:lumOff val="25000"/>
                  </a:schemeClr>
                </a:solidFill>
              </a:rPr>
              <a:t> to multiply the number of dead people (Both Sexes) by the probability of left-handedness.</a:t>
            </a:r>
          </a:p>
          <a:p>
            <a:pPr marL="285750" indent="-285750">
              <a:lnSpc>
                <a:spcPct val="100000"/>
              </a:lnSpc>
              <a:buFont typeface="Calibri" panose="020F0502020204030204" pitchFamily="34" charset="0"/>
              <a:buChar char="•"/>
            </a:pPr>
            <a:r>
              <a:rPr lang="en-US" dirty="0">
                <a:solidFill>
                  <a:schemeClr val="tx1">
                    <a:lumMod val="75000"/>
                    <a:lumOff val="25000"/>
                  </a:schemeClr>
                </a:solidFill>
              </a:rPr>
              <a:t>Normalize by dividing by the total number of dead people.</a:t>
            </a:r>
          </a:p>
          <a:p>
            <a:pPr>
              <a:lnSpc>
                <a:spcPct val="100000"/>
              </a:lnSpc>
            </a:pPr>
            <a:endParaRPr lang="en-US">
              <a:solidFill>
                <a:schemeClr val="tx1">
                  <a:lumMod val="75000"/>
                  <a:lumOff val="25000"/>
                </a:schemeClr>
              </a:solidFill>
            </a:endParaRPr>
          </a:p>
        </p:txBody>
      </p:sp>
      <p:pic>
        <p:nvPicPr>
          <p:cNvPr id="5" name="Content Placeholder 4" descr="A screenshot of a computer code&#10;&#10;AI-generated content may be incorrect.">
            <a:extLst>
              <a:ext uri="{FF2B5EF4-FFF2-40B4-BE49-F238E27FC236}">
                <a16:creationId xmlns:a16="http://schemas.microsoft.com/office/drawing/2014/main" id="{3128741D-7C5D-DA14-CD55-4268E30CA8AC}"/>
              </a:ext>
            </a:extLst>
          </p:cNvPr>
          <p:cNvPicPr>
            <a:picLocks noGrp="1" noChangeAspect="1"/>
          </p:cNvPicPr>
          <p:nvPr>
            <p:ph idx="1"/>
          </p:nvPr>
        </p:nvPicPr>
        <p:blipFill>
          <a:blip r:embed="rId2"/>
          <a:stretch>
            <a:fillRect/>
          </a:stretch>
        </p:blipFill>
        <p:spPr>
          <a:xfrm>
            <a:off x="170269" y="2977011"/>
            <a:ext cx="11821680" cy="3238518"/>
          </a:xfrm>
          <a:prstGeom prst="rect">
            <a:avLst/>
          </a:prstGeom>
        </p:spPr>
      </p:pic>
      <p:sp>
        <p:nvSpPr>
          <p:cNvPr id="16" name="Rectangle 15">
            <a:extLst>
              <a:ext uri="{FF2B5EF4-FFF2-40B4-BE49-F238E27FC236}">
                <a16:creationId xmlns:a16="http://schemas.microsoft.com/office/drawing/2014/main" id="{ED5EC01C-B438-4398-919E-A345C83EDA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9979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7771C-2F7A-E305-6A66-CFFECDF47EA8}"/>
              </a:ext>
            </a:extLst>
          </p:cNvPr>
          <p:cNvSpPr>
            <a:spLocks noGrp="1"/>
          </p:cNvSpPr>
          <p:nvPr>
            <p:ph type="title"/>
          </p:nvPr>
        </p:nvSpPr>
        <p:spPr>
          <a:xfrm>
            <a:off x="1175428" y="369439"/>
            <a:ext cx="3517567" cy="454957"/>
          </a:xfrm>
        </p:spPr>
        <p:txBody>
          <a:bodyPr>
            <a:noAutofit/>
          </a:bodyPr>
          <a:lstStyle/>
          <a:p>
            <a:r>
              <a:rPr lang="en-US" sz="2400" b="1" u="sng" dirty="0"/>
              <a:t>TASK - 6</a:t>
            </a:r>
          </a:p>
        </p:txBody>
      </p:sp>
      <p:pic>
        <p:nvPicPr>
          <p:cNvPr id="5" name="Content Placeholder 4" descr="A screenshot of a computer code&#10;&#10;AI-generated content may be incorrect.">
            <a:extLst>
              <a:ext uri="{FF2B5EF4-FFF2-40B4-BE49-F238E27FC236}">
                <a16:creationId xmlns:a16="http://schemas.microsoft.com/office/drawing/2014/main" id="{57FF6E4E-95CF-6A69-E9D9-46A70E61F8BB}"/>
              </a:ext>
            </a:extLst>
          </p:cNvPr>
          <p:cNvPicPr>
            <a:picLocks noGrp="1" noChangeAspect="1"/>
          </p:cNvPicPr>
          <p:nvPr>
            <p:ph idx="1"/>
          </p:nvPr>
        </p:nvPicPr>
        <p:blipFill>
          <a:blip r:embed="rId2"/>
          <a:stretch>
            <a:fillRect/>
          </a:stretch>
        </p:blipFill>
        <p:spPr>
          <a:xfrm>
            <a:off x="3865535" y="5604"/>
            <a:ext cx="8324489" cy="6851637"/>
          </a:xfrm>
        </p:spPr>
      </p:pic>
      <p:sp>
        <p:nvSpPr>
          <p:cNvPr id="4" name="Text Placeholder 3">
            <a:extLst>
              <a:ext uri="{FF2B5EF4-FFF2-40B4-BE49-F238E27FC236}">
                <a16:creationId xmlns:a16="http://schemas.microsoft.com/office/drawing/2014/main" id="{F73EC79A-DD60-EC3B-6BA7-E713A7732855}"/>
              </a:ext>
            </a:extLst>
          </p:cNvPr>
          <p:cNvSpPr>
            <a:spLocks noGrp="1"/>
          </p:cNvSpPr>
          <p:nvPr>
            <p:ph type="body" sz="half" idx="2"/>
          </p:nvPr>
        </p:nvSpPr>
        <p:spPr>
          <a:xfrm>
            <a:off x="183390" y="1260258"/>
            <a:ext cx="3690095" cy="3840882"/>
          </a:xfrm>
        </p:spPr>
        <p:txBody>
          <a:bodyPr vert="horz" lIns="91440" tIns="45720" rIns="91440" bIns="45720" rtlCol="0" anchor="t">
            <a:normAutofit lnSpcReduction="10000"/>
          </a:bodyPr>
          <a:lstStyle/>
          <a:p>
            <a:pPr marL="285750" indent="-285750">
              <a:buFont typeface="Arial"/>
              <a:buChar char="•"/>
            </a:pPr>
            <a:r>
              <a:rPr lang="en-US" dirty="0">
                <a:ea typeface="+mn-lt"/>
                <a:cs typeface="+mn-lt"/>
              </a:rPr>
              <a:t>Calculate PAP_APA , the overall probability of dying at age AAA.</a:t>
            </a:r>
            <a:endParaRPr lang="en-US" dirty="0"/>
          </a:p>
          <a:p>
            <a:pPr marL="285750" indent="-285750">
              <a:buFont typeface="Arial"/>
              <a:buChar char="•"/>
            </a:pPr>
            <a:r>
              <a:rPr lang="en-US" dirty="0">
                <a:ea typeface="+mn-lt"/>
                <a:cs typeface="+mn-lt"/>
              </a:rPr>
              <a:t>Divide the </a:t>
            </a:r>
            <a:r>
              <a:rPr lang="en-US" dirty="0">
                <a:latin typeface="Consolas"/>
              </a:rPr>
              <a:t>Both Sexes</a:t>
            </a:r>
            <a:r>
              <a:rPr lang="en-US" dirty="0">
                <a:ea typeface="+mn-lt"/>
                <a:cs typeface="+mn-lt"/>
              </a:rPr>
              <a:t> count at each age by the total number of deaths.</a:t>
            </a:r>
            <a:endParaRPr lang="en-US" dirty="0"/>
          </a:p>
          <a:p>
            <a:pPr marL="285750" indent="-285750">
              <a:buFont typeface="Arial"/>
              <a:buChar char="•"/>
            </a:pPr>
            <a:r>
              <a:rPr lang="en-US" dirty="0">
                <a:ea typeface="+mn-lt"/>
                <a:cs typeface="+mn-lt"/>
              </a:rPr>
              <a:t>Calculate </a:t>
            </a:r>
            <a:r>
              <a:rPr lang="en-US" dirty="0" err="1">
                <a:ea typeface="+mn-lt"/>
                <a:cs typeface="+mn-lt"/>
              </a:rPr>
              <a:t>PA∣lhP</a:t>
            </a:r>
            <a:r>
              <a:rPr lang="en-US" dirty="0">
                <a:ea typeface="+mn-lt"/>
                <a:cs typeface="+mn-lt"/>
              </a:rPr>
              <a:t>_{A|lh}</a:t>
            </a:r>
            <a:r>
              <a:rPr lang="en-US" dirty="0" err="1">
                <a:ea typeface="+mn-lt"/>
                <a:cs typeface="+mn-lt"/>
              </a:rPr>
              <a:t>PA∣lh</a:t>
            </a:r>
            <a:r>
              <a:rPr lang="en-US" dirty="0">
                <a:ea typeface="+mn-lt"/>
                <a:cs typeface="+mn-lt"/>
              </a:rPr>
              <a:t>  using the </a:t>
            </a:r>
            <a:r>
              <a:rPr lang="en-US" dirty="0" err="1">
                <a:ea typeface="+mn-lt"/>
                <a:cs typeface="+mn-lt"/>
              </a:rPr>
              <a:t>PlhP</a:t>
            </a:r>
            <a:r>
              <a:rPr lang="en-US" dirty="0">
                <a:ea typeface="+mn-lt"/>
                <a:cs typeface="+mn-lt"/>
              </a:rPr>
              <a:t>_{</a:t>
            </a:r>
            <a:r>
              <a:rPr lang="en-US" dirty="0" err="1">
                <a:ea typeface="+mn-lt"/>
                <a:cs typeface="+mn-lt"/>
              </a:rPr>
              <a:t>lh</a:t>
            </a:r>
            <a:r>
              <a:rPr lang="en-US" dirty="0">
                <a:ea typeface="+mn-lt"/>
                <a:cs typeface="+mn-lt"/>
              </a:rPr>
              <a:t>}</a:t>
            </a:r>
            <a:r>
              <a:rPr lang="en-US" dirty="0" err="1">
                <a:ea typeface="+mn-lt"/>
                <a:cs typeface="+mn-lt"/>
              </a:rPr>
              <a:t>Plh</a:t>
            </a:r>
            <a:r>
              <a:rPr lang="en-US" dirty="0">
                <a:ea typeface="+mn-lt"/>
                <a:cs typeface="+mn-lt"/>
              </a:rPr>
              <a:t>  value from </a:t>
            </a:r>
            <a:r>
              <a:rPr lang="en-US" b="1" dirty="0">
                <a:ea typeface="+mn-lt"/>
                <a:cs typeface="+mn-lt"/>
              </a:rPr>
              <a:t>Task 5</a:t>
            </a:r>
            <a:r>
              <a:rPr lang="en-US" dirty="0">
                <a:ea typeface="+mn-lt"/>
                <a:cs typeface="+mn-lt"/>
              </a:rPr>
              <a:t> and the </a:t>
            </a:r>
            <a:r>
              <a:rPr lang="en-US" dirty="0" err="1">
                <a:ea typeface="+mn-lt"/>
                <a:cs typeface="+mn-lt"/>
              </a:rPr>
              <a:t>Plh∣AP</a:t>
            </a:r>
            <a:r>
              <a:rPr lang="en-US" dirty="0">
                <a:ea typeface="+mn-lt"/>
                <a:cs typeface="+mn-lt"/>
              </a:rPr>
              <a:t>_{</a:t>
            </a:r>
            <a:r>
              <a:rPr lang="en-US" dirty="0" err="1">
                <a:ea typeface="+mn-lt"/>
                <a:cs typeface="+mn-lt"/>
              </a:rPr>
              <a:t>lh|A</a:t>
            </a:r>
            <a:r>
              <a:rPr lang="en-US" dirty="0">
                <a:ea typeface="+mn-lt"/>
                <a:cs typeface="+mn-lt"/>
              </a:rPr>
              <a:t>}</a:t>
            </a:r>
            <a:r>
              <a:rPr lang="en-US" dirty="0" err="1">
                <a:ea typeface="+mn-lt"/>
                <a:cs typeface="+mn-lt"/>
              </a:rPr>
              <a:t>Plh∣A</a:t>
            </a:r>
            <a:r>
              <a:rPr lang="en-US" dirty="0">
                <a:ea typeface="+mn-lt"/>
                <a:cs typeface="+mn-lt"/>
              </a:rPr>
              <a:t>  value from </a:t>
            </a:r>
            <a:r>
              <a:rPr lang="en-US" b="1" dirty="0">
                <a:ea typeface="+mn-lt"/>
                <a:cs typeface="+mn-lt"/>
              </a:rPr>
              <a:t>Task 3</a:t>
            </a:r>
            <a:r>
              <a:rPr lang="en-US" dirty="0">
                <a:ea typeface="+mn-lt"/>
                <a:cs typeface="+mn-lt"/>
              </a:rPr>
              <a:t>.</a:t>
            </a:r>
            <a:endParaRPr lang="en-US" dirty="0"/>
          </a:p>
          <a:p>
            <a:endParaRPr lang="en-US" dirty="0"/>
          </a:p>
        </p:txBody>
      </p:sp>
    </p:spTree>
    <p:extLst>
      <p:ext uri="{BB962C8B-B14F-4D97-AF65-F5344CB8AC3E}">
        <p14:creationId xmlns:p14="http://schemas.microsoft.com/office/powerpoint/2010/main" val="260034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70A9D-1527-B360-DA0B-527F9E9B44BD}"/>
              </a:ext>
            </a:extLst>
          </p:cNvPr>
          <p:cNvSpPr>
            <a:spLocks noGrp="1"/>
          </p:cNvSpPr>
          <p:nvPr>
            <p:ph type="title" idx="4294967295"/>
          </p:nvPr>
        </p:nvSpPr>
        <p:spPr>
          <a:xfrm>
            <a:off x="1063925" y="-270"/>
            <a:ext cx="10058400" cy="601124"/>
          </a:xfrm>
        </p:spPr>
        <p:txBody>
          <a:bodyPr>
            <a:normAutofit/>
          </a:bodyPr>
          <a:lstStyle/>
          <a:p>
            <a:pPr algn="ctr">
              <a:spcBef>
                <a:spcPts val="0"/>
              </a:spcBef>
            </a:pPr>
            <a:r>
              <a:rPr lang="en-US" sz="3600" b="1" u="sng" dirty="0">
                <a:solidFill>
                  <a:srgbClr val="FF0000"/>
                </a:solidFill>
              </a:rPr>
              <a:t>TASK - 7</a:t>
            </a:r>
            <a:endParaRPr lang="en-US">
              <a:solidFill>
                <a:srgbClr val="FF0000"/>
              </a:solidFill>
            </a:endParaRPr>
          </a:p>
        </p:txBody>
      </p:sp>
      <p:sp>
        <p:nvSpPr>
          <p:cNvPr id="5" name="TextBox 4">
            <a:extLst>
              <a:ext uri="{FF2B5EF4-FFF2-40B4-BE49-F238E27FC236}">
                <a16:creationId xmlns:a16="http://schemas.microsoft.com/office/drawing/2014/main" id="{FB793277-DDC5-8ADC-3509-96D310022422}"/>
              </a:ext>
            </a:extLst>
          </p:cNvPr>
          <p:cNvSpPr txBox="1"/>
          <p:nvPr/>
        </p:nvSpPr>
        <p:spPr>
          <a:xfrm>
            <a:off x="1826250" y="729651"/>
            <a:ext cx="8522898"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dirty="0">
                <a:solidFill>
                  <a:schemeClr val="bg1"/>
                </a:solidFill>
                <a:ea typeface="+mn-lt"/>
                <a:cs typeface="+mn-lt"/>
              </a:rPr>
              <a:t>Calculate PRH=1−PLHP_{RH} = 1 - P_{LH}PRH =1−PLH .</a:t>
            </a:r>
            <a:endParaRPr lang="en-US" sz="2000" dirty="0">
              <a:solidFill>
                <a:schemeClr val="bg1"/>
              </a:solidFill>
            </a:endParaRPr>
          </a:p>
          <a:p>
            <a:pPr marL="285750" indent="-285750">
              <a:buFont typeface="Arial"/>
              <a:buChar char="•"/>
            </a:pPr>
            <a:endParaRPr lang="en-US" sz="2000" dirty="0">
              <a:solidFill>
                <a:schemeClr val="bg1"/>
              </a:solidFill>
              <a:ea typeface="+mn-lt"/>
              <a:cs typeface="+mn-lt"/>
            </a:endParaRPr>
          </a:p>
          <a:p>
            <a:pPr marL="285750" indent="-285750">
              <a:buFont typeface="Arial"/>
              <a:buChar char="•"/>
            </a:pPr>
            <a:r>
              <a:rPr lang="en-US" sz="2000" dirty="0">
                <a:solidFill>
                  <a:schemeClr val="bg1"/>
                </a:solidFill>
                <a:ea typeface="+mn-lt"/>
                <a:cs typeface="+mn-lt"/>
              </a:rPr>
              <a:t>Calculate PA∣RH=1−PA∣LHP_{A|RH} = 1 - P_{A|LH}PA∣RH =1−PA∣LH .</a:t>
            </a:r>
            <a:endParaRPr lang="en-US" sz="2000" dirty="0">
              <a:solidFill>
                <a:schemeClr val="bg1"/>
              </a:solidFill>
            </a:endParaRPr>
          </a:p>
          <a:p>
            <a:pPr algn="l"/>
            <a:endParaRPr lang="en-US" sz="2000" dirty="0">
              <a:solidFill>
                <a:schemeClr val="bg1"/>
              </a:solidFill>
            </a:endParaRPr>
          </a:p>
        </p:txBody>
      </p:sp>
      <p:pic>
        <p:nvPicPr>
          <p:cNvPr id="6" name="Picture 5" descr="A screenshot of a computer code&#10;&#10;AI-generated content may be incorrect.">
            <a:extLst>
              <a:ext uri="{FF2B5EF4-FFF2-40B4-BE49-F238E27FC236}">
                <a16:creationId xmlns:a16="http://schemas.microsoft.com/office/drawing/2014/main" id="{39C86AD0-928B-DA04-72A5-6DE16619E991}"/>
              </a:ext>
            </a:extLst>
          </p:cNvPr>
          <p:cNvPicPr>
            <a:picLocks noChangeAspect="1"/>
          </p:cNvPicPr>
          <p:nvPr/>
        </p:nvPicPr>
        <p:blipFill>
          <a:blip r:embed="rId3"/>
          <a:stretch>
            <a:fillRect/>
          </a:stretch>
        </p:blipFill>
        <p:spPr>
          <a:xfrm>
            <a:off x="920151" y="1995095"/>
            <a:ext cx="10366075" cy="4104263"/>
          </a:xfrm>
          <a:prstGeom prst="rect">
            <a:avLst/>
          </a:prstGeom>
        </p:spPr>
      </p:pic>
    </p:spTree>
    <p:extLst>
      <p:ext uri="{BB962C8B-B14F-4D97-AF65-F5344CB8AC3E}">
        <p14:creationId xmlns:p14="http://schemas.microsoft.com/office/powerpoint/2010/main" val="1193762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fillRect t="-17000" b="-17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3EA214-4E95-9413-9DD3-153F0D5ED324}"/>
              </a:ext>
            </a:extLst>
          </p:cNvPr>
          <p:cNvSpPr txBox="1"/>
          <p:nvPr/>
        </p:nvSpPr>
        <p:spPr>
          <a:xfrm>
            <a:off x="5230771" y="13428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u="sng" dirty="0">
                <a:solidFill>
                  <a:schemeClr val="accent1"/>
                </a:solidFill>
              </a:rPr>
              <a:t>TASK - 8</a:t>
            </a:r>
          </a:p>
        </p:txBody>
      </p:sp>
      <p:sp>
        <p:nvSpPr>
          <p:cNvPr id="3" name="TextBox 2">
            <a:extLst>
              <a:ext uri="{FF2B5EF4-FFF2-40B4-BE49-F238E27FC236}">
                <a16:creationId xmlns:a16="http://schemas.microsoft.com/office/drawing/2014/main" id="{5CF40DF8-4F79-552B-2D09-8D95916F8E34}"/>
              </a:ext>
            </a:extLst>
          </p:cNvPr>
          <p:cNvSpPr txBox="1"/>
          <p:nvPr/>
        </p:nvSpPr>
        <p:spPr>
          <a:xfrm>
            <a:off x="2271048" y="810020"/>
            <a:ext cx="786153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solidFill>
                  <a:schemeClr val="bg1"/>
                </a:solidFill>
                <a:ea typeface="+mn-lt"/>
                <a:cs typeface="+mn-lt"/>
              </a:rPr>
              <a:t>Use the </a:t>
            </a:r>
            <a:r>
              <a:rPr lang="en-US" dirty="0" err="1">
                <a:solidFill>
                  <a:schemeClr val="bg1"/>
                </a:solidFill>
                <a:latin typeface="Consolas"/>
              </a:rPr>
              <a:t>P_A_given_lh</a:t>
            </a:r>
            <a:r>
              <a:rPr lang="en-US" dirty="0">
                <a:solidFill>
                  <a:schemeClr val="bg1"/>
                </a:solidFill>
                <a:latin typeface="Consolas"/>
              </a:rPr>
              <a:t>()</a:t>
            </a:r>
            <a:r>
              <a:rPr lang="en-US" dirty="0">
                <a:solidFill>
                  <a:schemeClr val="bg1"/>
                </a:solidFill>
                <a:ea typeface="+mn-lt"/>
                <a:cs typeface="+mn-lt"/>
              </a:rPr>
              <a:t> and </a:t>
            </a:r>
            <a:r>
              <a:rPr lang="en-US" dirty="0" err="1">
                <a:solidFill>
                  <a:schemeClr val="bg1"/>
                </a:solidFill>
                <a:latin typeface="Consolas"/>
              </a:rPr>
              <a:t>P_A_given_rh</a:t>
            </a:r>
            <a:r>
              <a:rPr lang="en-US" dirty="0">
                <a:solidFill>
                  <a:schemeClr val="bg1"/>
                </a:solidFill>
                <a:latin typeface="Consolas"/>
              </a:rPr>
              <a:t>()</a:t>
            </a:r>
            <a:r>
              <a:rPr lang="en-US" dirty="0">
                <a:solidFill>
                  <a:schemeClr val="bg1"/>
                </a:solidFill>
                <a:ea typeface="+mn-lt"/>
                <a:cs typeface="+mn-lt"/>
              </a:rPr>
              <a:t> functions to calculate probabilities for a range of ages.</a:t>
            </a:r>
            <a:endParaRPr lang="en-US" dirty="0">
              <a:solidFill>
                <a:schemeClr val="bg1"/>
              </a:solidFill>
            </a:endParaRPr>
          </a:p>
          <a:p>
            <a:pPr marL="285750" indent="-285750">
              <a:buFont typeface="Arial"/>
              <a:buChar char="•"/>
            </a:pPr>
            <a:r>
              <a:rPr lang="en-US" dirty="0">
                <a:solidFill>
                  <a:schemeClr val="bg1"/>
                </a:solidFill>
                <a:ea typeface="+mn-lt"/>
                <a:cs typeface="+mn-lt"/>
              </a:rPr>
              <a:t>Plot </a:t>
            </a:r>
            <a:r>
              <a:rPr lang="en-US" err="1">
                <a:solidFill>
                  <a:schemeClr val="bg1"/>
                </a:solidFill>
                <a:ea typeface="+mn-lt"/>
                <a:cs typeface="+mn-lt"/>
              </a:rPr>
              <a:t>PA∣lhP</a:t>
            </a:r>
            <a:r>
              <a:rPr lang="en-US" dirty="0">
                <a:solidFill>
                  <a:schemeClr val="bg1"/>
                </a:solidFill>
                <a:ea typeface="+mn-lt"/>
                <a:cs typeface="+mn-lt"/>
              </a:rPr>
              <a:t>_{A|lh}</a:t>
            </a:r>
            <a:r>
              <a:rPr lang="en-US" err="1">
                <a:solidFill>
                  <a:schemeClr val="bg1"/>
                </a:solidFill>
                <a:ea typeface="+mn-lt"/>
                <a:cs typeface="+mn-lt"/>
              </a:rPr>
              <a:t>PA∣lh</a:t>
            </a:r>
            <a:r>
              <a:rPr lang="en-US" dirty="0">
                <a:solidFill>
                  <a:schemeClr val="bg1"/>
                </a:solidFill>
                <a:ea typeface="+mn-lt"/>
                <a:cs typeface="+mn-lt"/>
              </a:rPr>
              <a:t>  and </a:t>
            </a:r>
            <a:r>
              <a:rPr lang="en-US" err="1">
                <a:solidFill>
                  <a:schemeClr val="bg1"/>
                </a:solidFill>
                <a:ea typeface="+mn-lt"/>
                <a:cs typeface="+mn-lt"/>
              </a:rPr>
              <a:t>PA∣rhP</a:t>
            </a:r>
            <a:r>
              <a:rPr lang="en-US" dirty="0">
                <a:solidFill>
                  <a:schemeClr val="bg1"/>
                </a:solidFill>
                <a:ea typeface="+mn-lt"/>
                <a:cs typeface="+mn-lt"/>
              </a:rPr>
              <a:t>_{</a:t>
            </a:r>
            <a:r>
              <a:rPr lang="en-US" err="1">
                <a:solidFill>
                  <a:schemeClr val="bg1"/>
                </a:solidFill>
                <a:ea typeface="+mn-lt"/>
                <a:cs typeface="+mn-lt"/>
              </a:rPr>
              <a:t>A|rh</a:t>
            </a:r>
            <a:r>
              <a:rPr lang="en-US" dirty="0">
                <a:solidFill>
                  <a:schemeClr val="bg1"/>
                </a:solidFill>
                <a:ea typeface="+mn-lt"/>
                <a:cs typeface="+mn-lt"/>
              </a:rPr>
              <a:t>}</a:t>
            </a:r>
            <a:r>
              <a:rPr lang="en-US" err="1">
                <a:solidFill>
                  <a:schemeClr val="bg1"/>
                </a:solidFill>
                <a:ea typeface="+mn-lt"/>
                <a:cs typeface="+mn-lt"/>
              </a:rPr>
              <a:t>PA∣rh</a:t>
            </a:r>
            <a:r>
              <a:rPr lang="en-US" dirty="0">
                <a:solidFill>
                  <a:schemeClr val="bg1"/>
                </a:solidFill>
                <a:ea typeface="+mn-lt"/>
                <a:cs typeface="+mn-lt"/>
              </a:rPr>
              <a:t>  on the same graph.</a:t>
            </a:r>
            <a:endParaRPr lang="en-US" dirty="0">
              <a:solidFill>
                <a:schemeClr val="bg1"/>
              </a:solidFill>
            </a:endParaRPr>
          </a:p>
          <a:p>
            <a:pPr algn="l"/>
            <a:endParaRPr lang="en-US" dirty="0">
              <a:solidFill>
                <a:schemeClr val="bg1"/>
              </a:solidFill>
            </a:endParaRPr>
          </a:p>
        </p:txBody>
      </p:sp>
      <p:pic>
        <p:nvPicPr>
          <p:cNvPr id="4" name="Picture 3" descr="A screenshot of a computer code&#10;&#10;AI-generated content may be incorrect.">
            <a:extLst>
              <a:ext uri="{FF2B5EF4-FFF2-40B4-BE49-F238E27FC236}">
                <a16:creationId xmlns:a16="http://schemas.microsoft.com/office/drawing/2014/main" id="{424B20D1-8198-4469-D9B9-744A6C91EC26}"/>
              </a:ext>
            </a:extLst>
          </p:cNvPr>
          <p:cNvPicPr>
            <a:picLocks noChangeAspect="1"/>
          </p:cNvPicPr>
          <p:nvPr/>
        </p:nvPicPr>
        <p:blipFill>
          <a:blip r:embed="rId3"/>
          <a:stretch>
            <a:fillRect/>
          </a:stretch>
        </p:blipFill>
        <p:spPr>
          <a:xfrm>
            <a:off x="222221" y="2000520"/>
            <a:ext cx="5881598" cy="4194054"/>
          </a:xfrm>
          <a:prstGeom prst="rect">
            <a:avLst/>
          </a:prstGeom>
        </p:spPr>
      </p:pic>
      <p:pic>
        <p:nvPicPr>
          <p:cNvPr id="5" name="Picture 4" descr="A graph of a number of age&#10;&#10;AI-generated content may be incorrect.">
            <a:extLst>
              <a:ext uri="{FF2B5EF4-FFF2-40B4-BE49-F238E27FC236}">
                <a16:creationId xmlns:a16="http://schemas.microsoft.com/office/drawing/2014/main" id="{7D2A158F-2BF6-2981-6986-039E95FEC271}"/>
              </a:ext>
            </a:extLst>
          </p:cNvPr>
          <p:cNvPicPr>
            <a:picLocks noChangeAspect="1"/>
          </p:cNvPicPr>
          <p:nvPr/>
        </p:nvPicPr>
        <p:blipFill>
          <a:blip r:embed="rId4"/>
          <a:stretch>
            <a:fillRect/>
          </a:stretch>
        </p:blipFill>
        <p:spPr>
          <a:xfrm>
            <a:off x="6343443" y="2004204"/>
            <a:ext cx="5601115" cy="4172309"/>
          </a:xfrm>
          <a:prstGeom prst="rect">
            <a:avLst/>
          </a:prstGeom>
        </p:spPr>
      </p:pic>
    </p:spTree>
    <p:extLst>
      <p:ext uri="{BB962C8B-B14F-4D97-AF65-F5344CB8AC3E}">
        <p14:creationId xmlns:p14="http://schemas.microsoft.com/office/powerpoint/2010/main" val="1107099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738416-B942-CA1D-07D5-1366A1FB6AC6}"/>
              </a:ext>
            </a:extLst>
          </p:cNvPr>
          <p:cNvSpPr txBox="1"/>
          <p:nvPr/>
        </p:nvSpPr>
        <p:spPr>
          <a:xfrm>
            <a:off x="4957888" y="-3738"/>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u="sng" dirty="0"/>
              <a:t>TASK - 9</a:t>
            </a:r>
          </a:p>
        </p:txBody>
      </p:sp>
      <p:sp>
        <p:nvSpPr>
          <p:cNvPr id="3" name="TextBox 2">
            <a:extLst>
              <a:ext uri="{FF2B5EF4-FFF2-40B4-BE49-F238E27FC236}">
                <a16:creationId xmlns:a16="http://schemas.microsoft.com/office/drawing/2014/main" id="{A6BE808B-3B70-BB00-463F-42549EE9D29A}"/>
              </a:ext>
            </a:extLst>
          </p:cNvPr>
          <p:cNvSpPr txBox="1"/>
          <p:nvPr/>
        </p:nvSpPr>
        <p:spPr>
          <a:xfrm>
            <a:off x="2499359" y="636342"/>
            <a:ext cx="766025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ea typeface="+mn-lt"/>
                <a:cs typeface="+mn-lt"/>
              </a:rPr>
              <a:t>The average age of death for left-handed and right-handed individuals is calculated and printed.</a:t>
            </a:r>
            <a:endParaRPr lang="en-US" dirty="0"/>
          </a:p>
          <a:p>
            <a:pPr marL="285750" indent="-285750">
              <a:buFont typeface="Arial"/>
              <a:buChar char="•"/>
            </a:pPr>
            <a:r>
              <a:rPr lang="en-US" dirty="0">
                <a:ea typeface="+mn-lt"/>
                <a:cs typeface="+mn-lt"/>
              </a:rPr>
              <a:t>The difference between the two averages is also displayed.</a:t>
            </a:r>
            <a:endParaRPr lang="en-US" dirty="0"/>
          </a:p>
          <a:p>
            <a:pPr algn="l"/>
            <a:endParaRPr lang="en-US" dirty="0"/>
          </a:p>
        </p:txBody>
      </p:sp>
      <p:pic>
        <p:nvPicPr>
          <p:cNvPr id="4" name="Picture 3" descr="A screenshot of a computer&#10;&#10;AI-generated content may be incorrect.">
            <a:extLst>
              <a:ext uri="{FF2B5EF4-FFF2-40B4-BE49-F238E27FC236}">
                <a16:creationId xmlns:a16="http://schemas.microsoft.com/office/drawing/2014/main" id="{8BCB5F49-0D3B-D550-BF50-40734A98C439}"/>
              </a:ext>
            </a:extLst>
          </p:cNvPr>
          <p:cNvPicPr>
            <a:picLocks noChangeAspect="1"/>
          </p:cNvPicPr>
          <p:nvPr/>
        </p:nvPicPr>
        <p:blipFill>
          <a:blip r:embed="rId2"/>
          <a:stretch>
            <a:fillRect/>
          </a:stretch>
        </p:blipFill>
        <p:spPr>
          <a:xfrm>
            <a:off x="575095" y="1711541"/>
            <a:ext cx="10869282" cy="4513219"/>
          </a:xfrm>
          <a:prstGeom prst="rect">
            <a:avLst/>
          </a:prstGeom>
        </p:spPr>
      </p:pic>
    </p:spTree>
    <p:extLst>
      <p:ext uri="{BB962C8B-B14F-4D97-AF65-F5344CB8AC3E}">
        <p14:creationId xmlns:p14="http://schemas.microsoft.com/office/powerpoint/2010/main" val="1526951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fillRect l="-6000" r="-6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E7D7F3-C1D8-3DD5-CD45-D8A3E767967D}"/>
              </a:ext>
            </a:extLst>
          </p:cNvPr>
          <p:cNvSpPr txBox="1"/>
          <p:nvPr/>
        </p:nvSpPr>
        <p:spPr>
          <a:xfrm>
            <a:off x="4677869" y="456481"/>
            <a:ext cx="262818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dirty="0">
                <a:solidFill>
                  <a:schemeClr val="bg1"/>
                </a:solidFill>
              </a:rPr>
              <a:t>TASK - 10</a:t>
            </a:r>
          </a:p>
        </p:txBody>
      </p:sp>
      <p:sp>
        <p:nvSpPr>
          <p:cNvPr id="3" name="TextBox 2">
            <a:extLst>
              <a:ext uri="{FF2B5EF4-FFF2-40B4-BE49-F238E27FC236}">
                <a16:creationId xmlns:a16="http://schemas.microsoft.com/office/drawing/2014/main" id="{5FC2DEF9-4C11-20DE-AFD4-1D42004A8CEB}"/>
              </a:ext>
            </a:extLst>
          </p:cNvPr>
          <p:cNvSpPr txBox="1"/>
          <p:nvPr/>
        </p:nvSpPr>
        <p:spPr>
          <a:xfrm>
            <a:off x="3045411" y="2010529"/>
            <a:ext cx="6409427"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000" dirty="0">
                <a:solidFill>
                  <a:schemeClr val="bg1"/>
                </a:solidFill>
                <a:ea typeface="+mn-lt"/>
                <a:cs typeface="+mn-lt"/>
              </a:rPr>
              <a:t>The functions </a:t>
            </a:r>
            <a:r>
              <a:rPr lang="en-US" sz="2000" dirty="0" err="1">
                <a:solidFill>
                  <a:schemeClr val="bg1"/>
                </a:solidFill>
                <a:latin typeface="Consolas"/>
              </a:rPr>
              <a:t>P_A_given_lh</a:t>
            </a:r>
            <a:r>
              <a:rPr lang="en-US" sz="2000" dirty="0">
                <a:solidFill>
                  <a:schemeClr val="bg1"/>
                </a:solidFill>
                <a:ea typeface="+mn-lt"/>
                <a:cs typeface="+mn-lt"/>
              </a:rPr>
              <a:t> and </a:t>
            </a:r>
            <a:r>
              <a:rPr lang="en-US" sz="2000" dirty="0" err="1">
                <a:solidFill>
                  <a:schemeClr val="bg1"/>
                </a:solidFill>
                <a:latin typeface="Consolas"/>
              </a:rPr>
              <a:t>P_A_given_rh</a:t>
            </a:r>
            <a:r>
              <a:rPr lang="en-US" sz="2000" dirty="0">
                <a:solidFill>
                  <a:schemeClr val="bg1"/>
                </a:solidFill>
                <a:ea typeface="+mn-lt"/>
                <a:cs typeface="+mn-lt"/>
              </a:rPr>
              <a:t> calculate results based on the </a:t>
            </a:r>
            <a:r>
              <a:rPr lang="en-US" sz="2000" dirty="0" err="1">
                <a:solidFill>
                  <a:schemeClr val="bg1"/>
                </a:solidFill>
                <a:latin typeface="Consolas"/>
              </a:rPr>
              <a:t>study_year</a:t>
            </a:r>
            <a:r>
              <a:rPr lang="en-US" sz="2000" dirty="0">
                <a:solidFill>
                  <a:schemeClr val="bg1"/>
                </a:solidFill>
                <a:latin typeface="Consolas"/>
              </a:rPr>
              <a:t> = 2018</a:t>
            </a:r>
            <a:r>
              <a:rPr lang="en-US" sz="2000" dirty="0">
                <a:solidFill>
                  <a:schemeClr val="bg1"/>
                </a:solidFill>
                <a:ea typeface="+mn-lt"/>
                <a:cs typeface="+mn-lt"/>
              </a:rPr>
              <a:t> parameter.</a:t>
            </a:r>
            <a:endParaRPr lang="en-US" sz="2000">
              <a:solidFill>
                <a:schemeClr val="bg1"/>
              </a:solidFill>
            </a:endParaRPr>
          </a:p>
        </p:txBody>
      </p:sp>
      <p:sp>
        <p:nvSpPr>
          <p:cNvPr id="5" name="TextBox 4">
            <a:extLst>
              <a:ext uri="{FF2B5EF4-FFF2-40B4-BE49-F238E27FC236}">
                <a16:creationId xmlns:a16="http://schemas.microsoft.com/office/drawing/2014/main" id="{F139582B-32F7-AA93-5F88-E85C607644A7}"/>
              </a:ext>
            </a:extLst>
          </p:cNvPr>
          <p:cNvSpPr txBox="1"/>
          <p:nvPr/>
        </p:nvSpPr>
        <p:spPr>
          <a:xfrm>
            <a:off x="3051451" y="3173658"/>
            <a:ext cx="6711350" cy="25237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dirty="0">
                <a:solidFill>
                  <a:schemeClr val="bg1"/>
                </a:solidFill>
                <a:ea typeface="+mn-lt"/>
                <a:cs typeface="+mn-lt"/>
              </a:rPr>
              <a:t>Redo calculations with </a:t>
            </a:r>
            <a:r>
              <a:rPr lang="en-US" sz="2000" dirty="0" err="1">
                <a:solidFill>
                  <a:schemeClr val="bg1"/>
                </a:solidFill>
                <a:latin typeface="Consolas"/>
              </a:rPr>
              <a:t>study_year</a:t>
            </a:r>
            <a:r>
              <a:rPr lang="en-US" sz="2000" dirty="0">
                <a:solidFill>
                  <a:schemeClr val="bg1"/>
                </a:solidFill>
                <a:ea typeface="+mn-lt"/>
                <a:cs typeface="+mn-lt"/>
              </a:rPr>
              <a:t> set to 2018.</a:t>
            </a:r>
            <a:endParaRPr lang="en-US" sz="2000" dirty="0">
              <a:solidFill>
                <a:schemeClr val="bg1"/>
              </a:solidFill>
            </a:endParaRPr>
          </a:p>
          <a:p>
            <a:pPr marL="285750" indent="-285750">
              <a:buFont typeface="Arial"/>
              <a:buChar char="•"/>
            </a:pPr>
            <a:endParaRPr lang="en-US" sz="2000" dirty="0">
              <a:solidFill>
                <a:schemeClr val="bg1"/>
              </a:solidFill>
              <a:ea typeface="+mn-lt"/>
              <a:cs typeface="+mn-lt"/>
            </a:endParaRPr>
          </a:p>
          <a:p>
            <a:pPr marL="285750" indent="-285750">
              <a:buFont typeface="Arial"/>
              <a:buChar char="•"/>
            </a:pPr>
            <a:r>
              <a:rPr lang="en-US" sz="2000" dirty="0">
                <a:solidFill>
                  <a:schemeClr val="bg1"/>
                </a:solidFill>
                <a:ea typeface="+mn-lt"/>
                <a:cs typeface="+mn-lt"/>
              </a:rPr>
              <a:t>Update input parameters for age, probabilities, and study year.</a:t>
            </a:r>
            <a:endParaRPr lang="en-US" sz="2000" dirty="0">
              <a:solidFill>
                <a:schemeClr val="bg1"/>
              </a:solidFill>
            </a:endParaRPr>
          </a:p>
          <a:p>
            <a:pPr marL="285750" indent="-285750">
              <a:buFont typeface="Arial"/>
              <a:buChar char="•"/>
            </a:pPr>
            <a:endParaRPr lang="en-US" sz="2000" dirty="0">
              <a:solidFill>
                <a:schemeClr val="bg1"/>
              </a:solidFill>
              <a:ea typeface="+mn-lt"/>
              <a:cs typeface="+mn-lt"/>
            </a:endParaRPr>
          </a:p>
          <a:p>
            <a:pPr marL="285750" indent="-285750">
              <a:buFont typeface="Arial"/>
              <a:buChar char="•"/>
            </a:pPr>
            <a:r>
              <a:rPr lang="en-US" sz="2000" dirty="0">
                <a:solidFill>
                  <a:schemeClr val="bg1"/>
                </a:solidFill>
                <a:ea typeface="+mn-lt"/>
                <a:cs typeface="+mn-lt"/>
              </a:rPr>
              <a:t>Compute and print results for left-handed and right-handed individuals.</a:t>
            </a:r>
            <a:endParaRPr lang="en-US" sz="2000">
              <a:solidFill>
                <a:schemeClr val="bg1"/>
              </a:solidFill>
            </a:endParaRPr>
          </a:p>
          <a:p>
            <a:pPr algn="l"/>
            <a:endParaRPr lang="en-US" dirty="0">
              <a:solidFill>
                <a:schemeClr val="bg1"/>
              </a:solidFill>
            </a:endParaRPr>
          </a:p>
        </p:txBody>
      </p:sp>
    </p:spTree>
    <p:extLst>
      <p:ext uri="{BB962C8B-B14F-4D97-AF65-F5344CB8AC3E}">
        <p14:creationId xmlns:p14="http://schemas.microsoft.com/office/powerpoint/2010/main" val="2679238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B171D1B4-24DE-1901-8185-3A9724A6C758}"/>
              </a:ext>
            </a:extLst>
          </p:cNvPr>
          <p:cNvPicPr>
            <a:picLocks noChangeAspect="1"/>
          </p:cNvPicPr>
          <p:nvPr/>
        </p:nvPicPr>
        <p:blipFill>
          <a:blip r:embed="rId2"/>
          <a:stretch>
            <a:fillRect/>
          </a:stretch>
        </p:blipFill>
        <p:spPr>
          <a:xfrm>
            <a:off x="359435" y="208074"/>
            <a:ext cx="11616903" cy="5981776"/>
          </a:xfrm>
          <a:prstGeom prst="rect">
            <a:avLst/>
          </a:prstGeom>
        </p:spPr>
      </p:pic>
    </p:spTree>
    <p:extLst>
      <p:ext uri="{BB962C8B-B14F-4D97-AF65-F5344CB8AC3E}">
        <p14:creationId xmlns:p14="http://schemas.microsoft.com/office/powerpoint/2010/main" val="3998683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531B9-BBF6-3641-9AD6-B4568C5F2A52}"/>
              </a:ext>
            </a:extLst>
          </p:cNvPr>
          <p:cNvSpPr>
            <a:spLocks noGrp="1"/>
          </p:cNvSpPr>
          <p:nvPr>
            <p:ph type="title"/>
          </p:nvPr>
        </p:nvSpPr>
        <p:spPr>
          <a:xfrm>
            <a:off x="1097280" y="286603"/>
            <a:ext cx="10058400" cy="1163210"/>
          </a:xfrm>
        </p:spPr>
        <p:txBody>
          <a:bodyPr/>
          <a:lstStyle/>
          <a:p>
            <a:pPr algn="ctr">
              <a:spcBef>
                <a:spcPts val="0"/>
              </a:spcBef>
            </a:pPr>
            <a:r>
              <a:rPr lang="en-US" b="1" u="sng" dirty="0"/>
              <a:t>OVERALL FINDINGS</a:t>
            </a:r>
          </a:p>
        </p:txBody>
      </p:sp>
      <p:sp>
        <p:nvSpPr>
          <p:cNvPr id="4" name="TextBox 3">
            <a:extLst>
              <a:ext uri="{FF2B5EF4-FFF2-40B4-BE49-F238E27FC236}">
                <a16:creationId xmlns:a16="http://schemas.microsoft.com/office/drawing/2014/main" id="{5CFB5E3D-4AAA-8924-9881-92AB4A5CC72C}"/>
              </a:ext>
            </a:extLst>
          </p:cNvPr>
          <p:cNvSpPr txBox="1"/>
          <p:nvPr/>
        </p:nvSpPr>
        <p:spPr>
          <a:xfrm>
            <a:off x="1374475" y="2639683"/>
            <a:ext cx="10075652"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dirty="0"/>
              <a:t>Left-handed individuals had lower representation in older age groups, indicating reduced life expectancy or societal pressures in the past.</a:t>
            </a:r>
          </a:p>
          <a:p>
            <a:pPr>
              <a:buFont typeface=""/>
              <a:buChar char="•"/>
            </a:pPr>
            <a:endParaRPr lang="en-US" dirty="0"/>
          </a:p>
          <a:p>
            <a:pPr>
              <a:buFont typeface=""/>
              <a:buChar char="•"/>
            </a:pPr>
            <a:r>
              <a:rPr lang="en-US" dirty="0"/>
              <a:t>Historical trends show left-handedness declined in earlier birth years due to cultural biases favoring right-handedness.</a:t>
            </a:r>
          </a:p>
          <a:p>
            <a:pPr>
              <a:buFont typeface=""/>
              <a:buChar char="•"/>
            </a:pPr>
            <a:endParaRPr lang="en-US" dirty="0"/>
          </a:p>
          <a:p>
            <a:pPr>
              <a:buFont typeface=""/>
              <a:buChar char="•"/>
            </a:pPr>
            <a:r>
              <a:rPr lang="en-US" dirty="0"/>
              <a:t>Mortality rates peaked at infancy and old age, with right-handed individuals dominating older age brackets.</a:t>
            </a:r>
          </a:p>
          <a:p>
            <a:pPr>
              <a:buFont typeface=""/>
              <a:buChar char="•"/>
            </a:pPr>
            <a:endParaRPr lang="en-US" dirty="0"/>
          </a:p>
          <a:p>
            <a:pPr>
              <a:buFont typeface=""/>
              <a:buChar char="•"/>
            </a:pPr>
            <a:r>
              <a:rPr lang="en-US" dirty="0"/>
              <a:t>Left-handed individuals had lower probabilities of surviving to advanced ages compared to right-handers.</a:t>
            </a:r>
          </a:p>
        </p:txBody>
      </p:sp>
    </p:spTree>
    <p:extLst>
      <p:ext uri="{BB962C8B-B14F-4D97-AF65-F5344CB8AC3E}">
        <p14:creationId xmlns:p14="http://schemas.microsoft.com/office/powerpoint/2010/main" val="121644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stretch>
            <a:fillRect t="-21000" b="-2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FE437-3174-962E-7CA0-00FEF54C2B1F}"/>
              </a:ext>
            </a:extLst>
          </p:cNvPr>
          <p:cNvSpPr>
            <a:spLocks noGrp="1"/>
          </p:cNvSpPr>
          <p:nvPr>
            <p:ph type="title"/>
          </p:nvPr>
        </p:nvSpPr>
        <p:spPr>
          <a:xfrm>
            <a:off x="3742714" y="-202227"/>
            <a:ext cx="10058400" cy="1450757"/>
          </a:xfrm>
        </p:spPr>
        <p:txBody>
          <a:bodyPr/>
          <a:lstStyle/>
          <a:p>
            <a:r>
              <a:rPr lang="en-US" b="1" u="sng" dirty="0">
                <a:solidFill>
                  <a:srgbClr val="00B0F0"/>
                </a:solidFill>
              </a:rPr>
              <a:t>CONCLUSION</a:t>
            </a:r>
          </a:p>
        </p:txBody>
      </p:sp>
      <p:sp>
        <p:nvSpPr>
          <p:cNvPr id="3" name="TextBox 2">
            <a:extLst>
              <a:ext uri="{FF2B5EF4-FFF2-40B4-BE49-F238E27FC236}">
                <a16:creationId xmlns:a16="http://schemas.microsoft.com/office/drawing/2014/main" id="{339D50F4-7DDD-672E-6747-0518C35C6519}"/>
              </a:ext>
            </a:extLst>
          </p:cNvPr>
          <p:cNvSpPr txBox="1"/>
          <p:nvPr/>
        </p:nvSpPr>
        <p:spPr>
          <a:xfrm>
            <a:off x="2408208" y="2530703"/>
            <a:ext cx="7703388" cy="3108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i="1" dirty="0">
                <a:solidFill>
                  <a:srgbClr val="FFFF00"/>
                </a:solidFill>
                <a:ea typeface="+mn-lt"/>
                <a:cs typeface="+mn-lt"/>
              </a:rPr>
              <a:t>The project reveals that left-handed individuals are underrepresented in older age groups, likely due to lower life expectancy and historical societal biases. Cultural, biological, and demographic factors collectively influence the age distribution and mortality patterns between left- and right-handed individuals.</a:t>
            </a:r>
            <a:endParaRPr lang="en-US" sz="2800" i="1">
              <a:solidFill>
                <a:srgbClr val="FFFF00"/>
              </a:solidFill>
            </a:endParaRPr>
          </a:p>
        </p:txBody>
      </p:sp>
    </p:spTree>
    <p:extLst>
      <p:ext uri="{BB962C8B-B14F-4D97-AF65-F5344CB8AC3E}">
        <p14:creationId xmlns:p14="http://schemas.microsoft.com/office/powerpoint/2010/main" val="962878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0BBAE3-E41D-CD73-3420-0AF9D78D11A9}"/>
              </a:ext>
            </a:extLst>
          </p:cNvPr>
          <p:cNvSpPr txBox="1"/>
          <p:nvPr/>
        </p:nvSpPr>
        <p:spPr>
          <a:xfrm>
            <a:off x="7589520" y="4846320"/>
            <a:ext cx="412342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600" b="1" dirty="0">
                <a:solidFill>
                  <a:srgbClr val="FF0000"/>
                </a:solidFill>
              </a:rPr>
              <a:t>BY,</a:t>
            </a:r>
          </a:p>
          <a:p>
            <a:r>
              <a:rPr lang="en-US" sz="3600" b="1" dirty="0">
                <a:solidFill>
                  <a:srgbClr val="FF0000"/>
                </a:solidFill>
              </a:rPr>
              <a:t>S.PRANOV</a:t>
            </a:r>
          </a:p>
        </p:txBody>
      </p:sp>
    </p:spTree>
    <p:extLst>
      <p:ext uri="{BB962C8B-B14F-4D97-AF65-F5344CB8AC3E}">
        <p14:creationId xmlns:p14="http://schemas.microsoft.com/office/powerpoint/2010/main" val="2845634283"/>
      </p:ext>
    </p:extLst>
  </p:cSld>
  <p:clrMapOvr>
    <a:masterClrMapping/>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Avenir Next LT Pro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venir Next LT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RetrospectVTI</vt:lpstr>
      <vt:lpstr>PowerPoint Presentation</vt:lpstr>
      <vt:lpstr>PROBLEM STATEMENT</vt:lpstr>
      <vt:lpstr>ABSTRACT</vt:lpstr>
      <vt:lpstr>TASK -1</vt:lpstr>
      <vt:lpstr>TASK - 2</vt:lpstr>
      <vt:lpstr>PowerPoint Presentation</vt:lpstr>
      <vt:lpstr>TASK - 3</vt:lpstr>
      <vt:lpstr>TASK - 4</vt:lpstr>
      <vt:lpstr>PowerPoint Presentation</vt:lpstr>
      <vt:lpstr>TASK - 5</vt:lpstr>
      <vt:lpstr>TASK - 6</vt:lpstr>
      <vt:lpstr>TASK - 7</vt:lpstr>
      <vt:lpstr>PowerPoint Presentation</vt:lpstr>
      <vt:lpstr>PowerPoint Presentation</vt:lpstr>
      <vt:lpstr>PowerPoint Presentation</vt:lpstr>
      <vt:lpstr>PowerPoint Presentation</vt:lpstr>
      <vt:lpstr>OVERALL FINDINGS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593</cp:revision>
  <dcterms:created xsi:type="dcterms:W3CDTF">2013-07-15T20:26:40Z</dcterms:created>
  <dcterms:modified xsi:type="dcterms:W3CDTF">2025-01-26T16:18:10Z</dcterms:modified>
</cp:coreProperties>
</file>